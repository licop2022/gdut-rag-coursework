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9c7636c6d24300" /><Relationship Type="http://schemas.openxmlformats.org/officeDocument/2006/relationships/extended-properties" Target="/docProps/app.xml" Id="R631db445278f43c2" /><Relationship Type="http://schemas.openxmlformats.org/officeDocument/2006/relationships/officeDocument" Target="/ppt/presentation.xml" Id="R9fc8dae76056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598d8dde24fde"/>
  </p:sldMasterIdLst>
  <p:notesMasterIdLst>
    <p:notesMasterId xmlns:r="http://schemas.openxmlformats.org/officeDocument/2006/relationships" r:id="R59cdc8f00fc94353"/>
  </p:notesMasterIdLst>
  <p:sldIdLst>
    <p:sldId xmlns:r="http://schemas.openxmlformats.org/officeDocument/2006/relationships" id="256" r:id="Rcef1623b4a5a4dc4"/>
    <p:sldId xmlns:r="http://schemas.openxmlformats.org/officeDocument/2006/relationships" id="257" r:id="R0a93eb58513d45ef"/>
    <p:sldId xmlns:r="http://schemas.openxmlformats.org/officeDocument/2006/relationships" id="258" r:id="Rf079fdc36e7e4597"/>
    <p:sldId xmlns:r="http://schemas.openxmlformats.org/officeDocument/2006/relationships" id="259" r:id="R04015567155445be"/>
    <p:sldId xmlns:r="http://schemas.openxmlformats.org/officeDocument/2006/relationships" id="260" r:id="R93c6cd51982740f9"/>
    <p:sldId xmlns:r="http://schemas.openxmlformats.org/officeDocument/2006/relationships" id="261" r:id="R6f1f2f3432c04fc8"/>
    <p:sldId xmlns:r="http://schemas.openxmlformats.org/officeDocument/2006/relationships" id="262" r:id="Rc40eb83b80934ac6"/>
    <p:sldId xmlns:r="http://schemas.openxmlformats.org/officeDocument/2006/relationships" id="263" r:id="R30cd87a7fd11463d"/>
    <p:sldId xmlns:r="http://schemas.openxmlformats.org/officeDocument/2006/relationships" id="264" r:id="R3fbec3dc534a4fd1"/>
    <p:sldId xmlns:r="http://schemas.openxmlformats.org/officeDocument/2006/relationships" id="265" r:id="R802d578017b44e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e43be1ee8e4d11" /><Relationship Type="http://schemas.openxmlformats.org/officeDocument/2006/relationships/slideMaster" Target="/ppt/slideMasters/slideMaster1.xml" Id="R94b598d8dde24fde" /><Relationship Type="http://schemas.openxmlformats.org/officeDocument/2006/relationships/notesMaster" Target="/ppt/notesMasters/notesMaster1.xml" Id="R59cdc8f00fc94353" /><Relationship Type="http://schemas.openxmlformats.org/officeDocument/2006/relationships/presProps" Target="/ppt/presProps.xml" Id="Rb1ebfa3b81e04b8f" /><Relationship Type="http://schemas.openxmlformats.org/officeDocument/2006/relationships/tableStyles" Target="/ppt/tableStyles.xml" Id="Ree35f14312c6410b" /><Relationship Type="http://schemas.openxmlformats.org/officeDocument/2006/relationships/slide" Target="/ppt/slides/slide1.xml" Id="Rcef1623b4a5a4dc4" /><Relationship Type="http://schemas.openxmlformats.org/officeDocument/2006/relationships/slide" Target="/ppt/slides/slide2.xml" Id="R0a93eb58513d45ef" /><Relationship Type="http://schemas.openxmlformats.org/officeDocument/2006/relationships/slide" Target="/ppt/slides/slide3.xml" Id="Rf079fdc36e7e4597" /><Relationship Type="http://schemas.openxmlformats.org/officeDocument/2006/relationships/slide" Target="/ppt/slides/slide4.xml" Id="R04015567155445be" /><Relationship Type="http://schemas.openxmlformats.org/officeDocument/2006/relationships/slide" Target="/ppt/slides/slide5.xml" Id="R93c6cd51982740f9" /><Relationship Type="http://schemas.openxmlformats.org/officeDocument/2006/relationships/slide" Target="/ppt/slides/slide6.xml" Id="R6f1f2f3432c04fc8" /><Relationship Type="http://schemas.openxmlformats.org/officeDocument/2006/relationships/slide" Target="/ppt/slides/slide7.xml" Id="Rc40eb83b80934ac6" /><Relationship Type="http://schemas.openxmlformats.org/officeDocument/2006/relationships/slide" Target="/ppt/slides/slide8.xml" Id="R30cd87a7fd11463d" /><Relationship Type="http://schemas.openxmlformats.org/officeDocument/2006/relationships/slide" Target="/ppt/slides/slide9.xml" Id="R3fbec3dc534a4fd1" /><Relationship Type="http://schemas.openxmlformats.org/officeDocument/2006/relationships/slide" Target="/ppt/slides/slide10.xml" Id="R802d578017b44e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8c1e1ab6b6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72e76ce6844fc9" /><Relationship Type="http://schemas.openxmlformats.org/officeDocument/2006/relationships/notesMaster" Target="/ppt/notesMasters/notesMaster1.xml" Id="R7a41147ba2a046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db7c9429d04e28" /><Relationship Type="http://schemas.openxmlformats.org/officeDocument/2006/relationships/notesMaster" Target="/ppt/notesMasters/notesMaster1.xml" Id="Rede521b2e2764a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d671c6f63a40fc" /><Relationship Type="http://schemas.openxmlformats.org/officeDocument/2006/relationships/notesMaster" Target="/ppt/notesMasters/notesMaster1.xml" Id="R852d8cbfbbd042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f9a7c942644ca2" /><Relationship Type="http://schemas.openxmlformats.org/officeDocument/2006/relationships/notesMaster" Target="/ppt/notesMasters/notesMaster1.xml" Id="Re34b2bdf5dd0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eb362c1e8c4599" /><Relationship Type="http://schemas.openxmlformats.org/officeDocument/2006/relationships/notesMaster" Target="/ppt/notesMasters/notesMaster1.xml" Id="Re025a4db820446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b0a469ac85478c" /><Relationship Type="http://schemas.openxmlformats.org/officeDocument/2006/relationships/notesMaster" Target="/ppt/notesMasters/notesMaster1.xml" Id="Rd1b6b0c13826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5f9c91f964b23" /><Relationship Type="http://schemas.openxmlformats.org/officeDocument/2006/relationships/notesMaster" Target="/ppt/notesMasters/notesMaster1.xml" Id="R3ed528f7fde34f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5355f1cc4b45a4" /><Relationship Type="http://schemas.openxmlformats.org/officeDocument/2006/relationships/notesMaster" Target="/ppt/notesMasters/notesMaster1.xml" Id="Rb40879718e8745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677fbbbb5f4db9" /><Relationship Type="http://schemas.openxmlformats.org/officeDocument/2006/relationships/notesMaster" Target="/ppt/notesMasters/notesMaster1.xml" Id="Re4feb5776ac344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00416f577b406e" /><Relationship Type="http://schemas.openxmlformats.org/officeDocument/2006/relationships/notesMaster" Target="/ppt/notesMasters/notesMaster1.xml" Id="R7a84ff4cb642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甲，约15秒：我们的题目是课程资料问答助手，选择重排序方向。我们用自编学习资料实现了本地RAG，并对同一批候选做有无重排序的对照。四位成员按系统、检索、重排和评价分工。姓名和组号在提交前替换为真实信息。校徽校名原图来源：https://www.gdut.edu.cn/images2020/logo.png；官方页面：https://www.gdut.edu.cn/xxgk/xhxxxg.htm。本PPT为课程汇报自制设计，不是校方发布的官方模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甲，约25秒：系统希望回答有可核对的来源。我们关注两个环节：正确资料是否排在前面，生成模型能否正确利用资料。知识库和题目是自编教学数据，不是教师课件或外部盲测。来源：https://arxiv.org/abs/2005.11401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乙，约25秒：离线将文档切分并用BGE编码，保留文档编号和字符位置，矩阵与元数据持久化。在线编码问题，召回10个，再按两种方式选3个上下文，最后由同一个Qwen模型生成。向量库采用NumPy精确扫描。来源：https://huggingface.co/BAAI/bge-small-zh-v1.5；https://sbert.net/examples/sentence_transformer/applications/retrieve_rerank/READM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乙，约40秒：size=180与overlap=36在这里指字符，不是token。片段太小容易切断证据，太大容易带入无关信息。重叠缓解边界问题但带来重复。BGE使用CLS池化并L2归一化，此时点积等于余弦。查询加检索指令，文档不加。不要把相似度当答案正确概率。来源：https://huggingface.co/BAAI/bge-small-zh-v1.5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丙，约25秒：Bi-Encoder独立编码，可提前计算文档向量。Cross-Encoder把问题与片段作为文本对输入，逐对评分，所以只重排候选。两种分数的量纲不同，不能直接比较。本项目模型为cross-encoder/mmarco-mMiniLMv2-L12-H384-v1。来源：https://huggingface.co/cross-encoder/mmarco-mMiniLMv2-L12-H384-v1；https://sbert.net/examples/sentence_transformer/applications/retrieve_rerank/READM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丁，约15秒：两组共享候选、生成器和提示词，上下文都是3个，只改变排序。检索指标按预标注文档计算，仅针对10道有依据题。资料外题单独检查。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丁，约20秒：数值来自results/summary.json，分母是10道有依据题。两组Hit@3均为100%，MRR均为1.000，在这个题集上已达上限，不能据此证明重排普遍无效。平均重排约0.45秒，查询耗时还受生成长度影响。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丙，约75秒，含切屏与现场运行：先运行Notebook的补充排序示例“搜到的材料来自相关文件，为什么仍不等于能答完整？”，D08-C02由原第4名升至第1名。此例从12条口语化探索查询中选取，仅解释排序机制，不计入固定题集统计。再运行Q10的生成对比，查看回答和原文。若等待较久，切到保存的实验预览并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丁，约20秒：保存的24条回答已由助手阅读初评，需要组员复核，不是独立盲评。满分题数两组均为3/10。Q10解释有改善，Q06却仍把引用与证据混淆。资料外题也各有一道编造，检索命中不能替代答案核验。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丁，约10秒：结果只适用于自编小样本。主要误差在生成端。后续需要真实课件、独立题集和双人核验。四人发言预算合计约4分30秒。完整参考资料见交付包。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aa5d9c3acc4a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2a130e23b4c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89b7cc86247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b92ddbf4c4b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96d29547bd42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47e37cee8246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8DBAA0-2D99-4DC5-80E4-E7FD97D8E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01DF37-ED37-4946-8B03-5A5C463975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DFAA7E6-6A25-48A1-9B50-C0745E886E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4413BC-2BCF-46B4-A0A7-F551D78B9A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C711A9-8450-4689-A5F3-559DD5EABE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CFA6FA2-807B-44CA-835C-F6FD5C25C7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357E43-01FC-418D-9141-0A9AEBBBE2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1142289-8B68-4C9B-8E2D-BE1A256F90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3F08AC-0F38-4C38-A402-947DAFCE5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83D26A-D3F8-45F0-807B-E1B271537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bfbad388274b8f" /><Relationship Type="http://schemas.openxmlformats.org/officeDocument/2006/relationships/slideLayout" Target="/ppt/slideLayouts/slideLayout1.xml" Id="R67053b5b6566416a" /><Relationship Type="http://schemas.openxmlformats.org/officeDocument/2006/relationships/slideLayout" Target="/ppt/slideLayouts/slideLayout2.xml" Id="Rb60dfad4b7ec40ca" /><Relationship Type="http://schemas.openxmlformats.org/officeDocument/2006/relationships/slideLayout" Target="/ppt/slideLayouts/slideLayout3.xml" Id="R958ea68519aa41ef" /><Relationship Type="http://schemas.openxmlformats.org/officeDocument/2006/relationships/slideLayout" Target="/ppt/slideLayouts/slideLayout4.xml" Id="Rb957a87ab3054387" /><Relationship Type="http://schemas.openxmlformats.org/officeDocument/2006/relationships/slideLayout" Target="/ppt/slideLayouts/slideLayout5.xml" Id="R42d3fbf8fa324a12" /><Relationship Type="http://schemas.openxmlformats.org/officeDocument/2006/relationships/slideLayout" Target="/ppt/slideLayouts/slideLayout6.xml" Id="R05764ae9011d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053b5b6566416a"/>
    <p:sldLayoutId xmlns:r="http://schemas.openxmlformats.org/officeDocument/2006/relationships" id="2147483650" r:id="Rb60dfad4b7ec40ca"/>
    <p:sldLayoutId xmlns:r="http://schemas.openxmlformats.org/officeDocument/2006/relationships" id="2147483651" r:id="R958ea68519aa41ef"/>
    <p:sldLayoutId xmlns:r="http://schemas.openxmlformats.org/officeDocument/2006/relationships" id="2147483652" r:id="Rb957a87ab3054387"/>
    <p:sldLayoutId xmlns:r="http://schemas.openxmlformats.org/officeDocument/2006/relationships" id="2147483653" r:id="R42d3fbf8fa324a12"/>
    <p:sldLayoutId xmlns:r="http://schemas.openxmlformats.org/officeDocument/2006/relationships" id="2147483654" r:id="R05764ae9011d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86ad528334e0d" /><Relationship Type="http://schemas.openxmlformats.org/officeDocument/2006/relationships/image" Target="/ppt/media/image.png" Id="R8dfd28564d4c4223" /><Relationship Type="http://schemas.openxmlformats.org/officeDocument/2006/relationships/notesSlide" Target="/ppt/notesSlides/notesSlide1.xml" Id="R49cd8305820f43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946a1181ac4ee9" /><Relationship Type="http://schemas.openxmlformats.org/officeDocument/2006/relationships/notesSlide" Target="/ppt/notesSlides/notesSlide2.xml" Id="R8353ad0d9b79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4e676e6c134739" /><Relationship Type="http://schemas.openxmlformats.org/officeDocument/2006/relationships/notesSlide" Target="/ppt/notesSlides/notesSlide3.xml" Id="R93a4601a493b45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4d71adf0424e2f" /><Relationship Type="http://schemas.openxmlformats.org/officeDocument/2006/relationships/notesSlide" Target="/ppt/notesSlides/notesSlide4.xml" Id="R291732680aef44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708eab01a14cf9" /><Relationship Type="http://schemas.openxmlformats.org/officeDocument/2006/relationships/notesSlide" Target="/ppt/notesSlides/notesSlide5.xml" Id="R3487186f5d8e4e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21d9bd64724d7a" /><Relationship Type="http://schemas.openxmlformats.org/officeDocument/2006/relationships/notesSlide" Target="/ppt/notesSlides/notesSlide6.xml" Id="R873f6a89fd984a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40e3d7e6940a6" /><Relationship Type="http://schemas.openxmlformats.org/officeDocument/2006/relationships/notesSlide" Target="/ppt/notesSlides/notesSlide7.xml" Id="R3428822ccc2d4d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5afc79d814d1e" /><Relationship Type="http://schemas.openxmlformats.org/officeDocument/2006/relationships/notesSlide" Target="/ppt/notesSlides/notesSlide8.xml" Id="Rf481c97bc29648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6e0ea5fc5740f9" /><Relationship Type="http://schemas.openxmlformats.org/officeDocument/2006/relationships/notesSlide" Target="/ppt/notesSlides/notesSlide9.xml" Id="R3884553451954c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a4fa2025447ec" /><Relationship Type="http://schemas.openxmlformats.org/officeDocument/2006/relationships/notesSlide" Target="/ppt/notesSlides/notesSlide10.xml" Id="R7e25147ca10d46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F0549-FBC0-47C8-9F96-E822C7E21A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d28564d4c4223"/>
          <a:stretch xmlns:a="http://schemas.openxmlformats.org/drawingml/2006/main"/>
        </p:blipFill>
        <p:spPr>
          <a:xfrm xmlns:a="http://schemas.openxmlformats.org/drawingml/2006/main">
            <a:off x="609600" y="428625"/>
            <a:ext cx="4572000" cy="1042416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1495E-7698-4D43-BB74-C19AAB14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23900"/>
            <a:ext cx="3867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大数据与人工智能课程汇报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CA71A-BE42-42BD-8513-80E4BC3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5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课程资料问答助手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40CB6F-C474-4E21-B6E1-5EF3333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1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1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RAG 检索与重排序效果对比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AE2074-B071-4099-A9EA-4069FA8A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20 篇自编资料，12 道固定问题</a:t>
            </a:r>
          </a:p>
          <a:p xmlns:a="http://schemas.openxmlformats.org/drawingml/2006/main">
            <a:pPr>
              <a:def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中文向量检索、Cross-Encoder 重排、本地生成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52CE1-F21B-4C40-B8D2-38FBA091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成员甲  系统与统筹     成员乙  数据与检索</a:t>
            </a:r>
          </a:p>
          <a:p xmlns:a="http://schemas.openxmlformats.org/drawingml/2006/main">
            <a:pPr>
              <a:def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成员丙  重排序与演示   成员丁  实验与评价</a:t>
            </a:r>
          </a:p>
        </p:txBody>
      </p:sp>
    </p:spTree>
    <p:extLst>
      <p:ext uri="{BB962C8B-B14F-4D97-AF65-F5344CB8AC3E}">
        <p14:creationId xmlns:p14="http://schemas.microsoft.com/office/powerpoint/2010/main" val="7929069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09DA89-8B67-427D-83ED-2FB17422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检索到相关资料，仍可能回答不准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08785-75D8-4C0A-BD2E-1384227C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0EAD-B969-470E-9B69-C2B4DDF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1A296-4124-4670-A5E9-2F8F0A88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本次问题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9E1D7D-9610-4AA5-9FF3-8D1D2195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同一批候选中，重排序能否</a:t>
            </a:r>
          </a:p>
          <a:p xmlns:a="http://schemas.openxmlformats.org/drawingml/2006/main">
            <a:pPr>
              <a:defRPr sz="2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改善前几名的相关性？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F627C-4759-44D8-BA2E-693C9B62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检索指标与生成质量分开评价。</a:t>
            </a:r>
          </a:p>
          <a:p xmlns:a="http://schemas.openxmlformats.org/drawingml/2006/main">
            <a: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同步显示片段编号，可回看原文。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B3E3C-14C6-42AF-B7AF-902FB779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383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72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72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63581-9234-4058-AFAC-6BFA8B7C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篇自编中文学习资料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1D180-20F9-48CF-902C-125DC31B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76675"/>
            <a:ext cx="3486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49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10 + 2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DA85C-9F03-4FA9-B760-A736E286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有依据问题 + 资料外问题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C6BBA-FAA5-436C-999E-686411D4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6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范围：纯文本、小规模精确检索。未部署 Milvus，未实现多模态解析。</a:t>
            </a:r>
          </a:p>
        </p:txBody>
      </p:sp>
    </p:spTree>
    <p:extLst>
      <p:ext uri="{BB962C8B-B14F-4D97-AF65-F5344CB8AC3E}">
        <p14:creationId xmlns:p14="http://schemas.microsoft.com/office/powerpoint/2010/main" val="80801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2AB30A-87C6-427E-91D7-EAF758B9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RAG 系统流程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467E24-5608-4E1C-8263-02E9DDCE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D79B1-8118-4C53-B0D0-BA7EA711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6841-8607-45C5-B9E9-3327829D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离线建库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B457D-3CE1-401B-ABD8-2848CC9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资料读取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A224D-9B1B-4483-BB3B-56ADAF79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4B123-8C3A-458F-B520-FE3D2BD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字符切分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C11494-BEE3-4003-922A-88E8363B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193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9CBBC-23B8-4037-A378-200F6F63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7645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BGE 编码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D9C1A-7B46-41E1-8375-BACCCA55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791BFF-60AE-4F75-8590-226FBB35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657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向量与来源持久化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670732-19F7-47E4-B057-00F9562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在线问答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F1CCFB-B13A-4992-80D1-F16A418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8176B-681C-4F22-B52B-8A8BD3D8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386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D60739-0D7D-497A-8B10-B9594A18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1714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召回 10 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C0D3A8-1D11-4108-A21B-A28B71D4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4386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94E71-3465-44DC-A280-A04658D2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957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原序 / 重排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6FD327-BF1E-474C-8339-DB1B583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386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0BE78-AD89-4845-9380-95897A1F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95750"/>
            <a:ext cx="1524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选 3 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429A9-2584-44EC-A9B6-501C3FC4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3865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30D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FEF94-BFA8-477B-8C25-0B8ADAA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95750"/>
            <a:ext cx="2171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C30D23"/>
            </a:solidFill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Qwen 回答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EF08EE-B0FC-4AC1-8513-9C57FAEB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索引规模：37 个片段，512 维向量。配置或语料变化后自动换用新缓存。</a:t>
            </a:r>
          </a:p>
        </p:txBody>
      </p:sp>
    </p:spTree>
    <p:extLst>
      <p:ext uri="{BB962C8B-B14F-4D97-AF65-F5344CB8AC3E}">
        <p14:creationId xmlns:p14="http://schemas.microsoft.com/office/powerpoint/2010/main" val="17158939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3C61A-B20C-4131-8766-54BAC57E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Chunk 与 Embedding 的实现取舍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ED2D7-0213-43D9-A117-6B92CEBE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6C4E4-28E1-40A4-8248-970BDF30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572E6-50E5-49B8-A53D-FADCF4BDA540}"/>
              </a:ext>
            </a:extLst>
          </p:cNvPr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857750"/>
                <a:gridCol w="4495800"/>
              </a:tblGrid>
              <a:tr h="7000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本项目配置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主要取舍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Chunk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 字符，重叠 36 字符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证据完整性与冗余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Embedding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BGE-small-zh-v1.5，CLS + L2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问题和文档使用同一语义空间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  <a:tr h="7000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归一化向量精确点积扫描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便于解释，规模大时需优化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8138B3-1F2D-4154-8E2B-D15CF89E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cos(q, d) = (q · d) / (‖q‖ ‖d‖)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0E09D-3434-478E-848B-D0F9C73D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L2 归一化后：cos(q, d) = q · d</a:t>
            </a:r>
          </a:p>
        </p:txBody>
      </p:sp>
    </p:spTree>
    <p:extLst>
      <p:ext uri="{BB962C8B-B14F-4D97-AF65-F5344CB8AC3E}">
        <p14:creationId xmlns:p14="http://schemas.microsoft.com/office/powerpoint/2010/main" val="551147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03B86-EE00-4F5C-B936-FEA46AF9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Bi-Encoder 召回，Cross-Encoder 精排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C9308C-C23A-4489-BC37-CE25E23B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37D5B-022B-44AD-8BEE-31B56BD5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3DEFA-5AFF-4813-9288-40D7747028E3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3362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67246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比较项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Bi-Encoder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Cross-Encoder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问题、文档分别输入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问题与候选联合输入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输出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可独立保存的向量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文本对相关性分数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使用位置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全库候选召回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小批候选精排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7246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本次候选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同一批 10 个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重排后选择前 3 个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EEE74-3941-40E1-9653-9BA78F57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9A5D0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9A5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5D00"/>
                </a:solidFill>
                <a:latin typeface="Microsoft YaHei"/>
                <a:ea typeface="Microsoft YaHei"/>
                <a:cs typeface="Microsoft YaHei"/>
              </a:rPr>
              <a:t>边界：初次召回没有正确证据，重排序无法把它补回来。</a:t>
            </a:r>
          </a:p>
        </p:txBody>
      </p:sp>
    </p:spTree>
    <p:extLst>
      <p:ext uri="{BB962C8B-B14F-4D97-AF65-F5344CB8AC3E}">
        <p14:creationId xmlns:p14="http://schemas.microsoft.com/office/powerpoint/2010/main" val="18911358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C0979-C6DD-4F2B-9531-27ECE58C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固定其他条件，只改变是否重排序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6C813-25E0-4D2A-BC55-91A43936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374C8-0DAB-44B4-A69F-566F5110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F77386-110C-454E-AC15-7BA21F9C7F88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209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533900"/>
                <a:gridCol w="4533900"/>
              </a:tblGrid>
              <a:tr h="64198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控制项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 RAG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 Rerank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初次候选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同一批向量召回前 10 个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共享相同候选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按余弦选前 3 个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按重排分数选前 3 个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Qwen2.5-0.5B，贪心解码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相同模型、提示词与长度上限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64198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文档级 Hit@1 / Hit@3 / MRR@3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同一标注，保留全部题目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EE429-9284-4DAA-83B8-97E8CB83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9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模型预热后计时，加载与建库单独记录。</a:t>
            </a:r>
          </a:p>
          <a:p xmlns:a="http://schemas.openxmlformats.org/drawingml/2006/main">
            <a:pPr>
              <a:defRPr sz="19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小样本、单次运行的耗时不等于严格性能基准。</a:t>
            </a:r>
          </a:p>
        </p:txBody>
      </p:sp>
    </p:spTree>
    <p:extLst>
      <p:ext uri="{BB962C8B-B14F-4D97-AF65-F5344CB8AC3E}">
        <p14:creationId xmlns:p14="http://schemas.microsoft.com/office/powerpoint/2010/main" val="173155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F5A52A-7AB2-45C8-B22B-51A1257A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实测检索结果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6639E8-1870-49E1-9D74-C77835DEE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AF64A-44D9-4289-BDE7-35550F6E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E759D-DE09-41E1-8A3C-09DDB0EA16C5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105150"/>
                <a:gridCol w="3105150"/>
              </a:tblGrid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指标（10 道有依据题）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 RAG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 Rerank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Hit@1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Hit@3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MRR@3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平均查询耗时（12 题）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7.63 秒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7.71 秒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EA2F5-8F18-496E-8303-B7253DF4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初次召回 Hit@10：100%    平均重排耗时：0.454 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DCE51-CCED-4A22-BA37-168CFFF7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文档级相关标注。完整片段、回答、参数与计时随作业保存。</a:t>
            </a:r>
          </a:p>
        </p:txBody>
      </p:sp>
    </p:spTree>
    <p:extLst>
      <p:ext uri="{BB962C8B-B14F-4D97-AF65-F5344CB8AC3E}">
        <p14:creationId xmlns:p14="http://schemas.microsoft.com/office/powerpoint/2010/main" val="11658522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D6EFB-AF64-4005-AB07-3256633B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现场演示：第 4 名片段升至第 1 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EBEBC-69C2-4709-8414-78E69283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7115E6-4FCB-4917-A1FE-49ADA9C8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F9130-9661-478C-A679-6AACDF83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搜到的材料来自相关文件，为什么仍不等于能答完整？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EE1D9-6042-46B5-85EF-D73534C9DC36}"/>
              </a:ext>
            </a:extLst>
          </p:cNvPr>
          <p:cNvGraphicFramePr/>
          <p:nvPr/>
        </p:nvGraphicFramePr>
        <p:xfrm>
          <a:off xmlns:a="http://schemas.openxmlformats.org/drawingml/2006/main" x="609600" y="255270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5010150"/>
                <a:gridCol w="501015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名次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基础候选片段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重排序候选片段</a:t>
                      </a:r>
                    </a:p>
                  </a:txBody>
                  <a:tcPr marL="152400" marR="114300" marT="95250" marB="95250" anchor="ctr">
                    <a:solidFill>
                      <a:srgbClr val="C30D2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D06-C01 生成提示词与资料不足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D08-C02 检索评价指标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D19-C01 相似问题中的关键限制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D06-C01 生成提示词与资料不足</a:t>
                      </a:r>
                    </a:p>
                  </a:txBody>
                  <a:tcPr marL="152400" marR="114300" marT="95250" marB="95250" anchor="ctr">
                    <a:solidFill>
                      <a:srgbClr val="FAF1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D06-C02 生成提示词与资料不足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D17-C01 实验手册的资料范围</a:t>
                      </a:r>
                    </a:p>
                  </a:txBody>
                  <a:tcPr marL="152400" marR="11430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35B1E-3EFC-4A3B-8F18-53A97D65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D08-C02：原排名 4，重排后排名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F41DBD-23B8-480E-B492-8379466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7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补充探索案例，不计入固定 12 题统计。随后查看 Q10 的回答与原文。</a:t>
            </a:r>
          </a:p>
        </p:txBody>
      </p:sp>
    </p:spTree>
    <p:extLst>
      <p:ext uri="{BB962C8B-B14F-4D97-AF65-F5344CB8AC3E}">
        <p14:creationId xmlns:p14="http://schemas.microsoft.com/office/powerpoint/2010/main" val="17965699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D3E02-89CC-4DF7-A85F-FEB6B128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排名变化与回答质量需要分别检查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964B0-C250-4385-BBD7-A2FABAB6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00EA7-AF0B-40AB-838E-4431685A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F54D7-59B1-42E4-B091-0F16FCC2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7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两组检索 Hit@3 均为 100%</a:t>
            </a:r>
          </a:p>
          <a:p xmlns:a="http://schemas.openxmlformats.org/drawingml/2006/main">
            <a:pPr>
              <a:defRPr sz="27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回答初评满分题数均为 3/10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E63C5-0807-4075-9E2D-474EABB9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5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助手阅读初评，需组员复核，非独立盲评。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3477C-80C9-4EF2-81D7-6FB5D2EB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Q10 重排后说清了“语义空间变化”。Q06 两组都未正确解释来源编号与证据支持的区别。检索命中与答案质量需要分开检查。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67753-188D-4DE6-972B-72D3D6CD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自主讨论：资料不足时，提示词能否保证可靠拒答？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122E4-B278-4768-8AF4-207896FB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8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2 道资料外题中，两组均仅 1 道可靠拒答，考试答案问题出现编造。</a:t>
            </a:r>
          </a:p>
        </p:txBody>
      </p:sp>
    </p:spTree>
    <p:extLst>
      <p:ext uri="{BB962C8B-B14F-4D97-AF65-F5344CB8AC3E}">
        <p14:creationId xmlns:p14="http://schemas.microsoft.com/office/powerpoint/2010/main" val="13143520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784037-B767-4AF8-8655-15C3CC50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结论与局限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D169E-9711-41FA-930A-7DE93073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A5323-143B-47EA-B7AA-9CAAA8D7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广东工业大学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FEA0F-0FC3-44A5-9604-899E8EFE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30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30D23"/>
                </a:solidFill>
                <a:latin typeface="Microsoft YaHei"/>
                <a:ea typeface="Microsoft YaHei"/>
                <a:cs typeface="Microsoft YaHei"/>
              </a:rPr>
              <a:t>本题集检索指标已达上限，重排没有带来指标提升。生成端仍是主要误差来源。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08083-E229-4B52-95C0-AEC90F98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972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自编资料与题目共同构造，样本仅 12 道。</a:t>
            </a:r>
          </a:p>
          <a:p xmlns:a="http://schemas.openxmlformats.org/drawingml/2006/main">
            <a: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0.5B 生成模型能力有限，引用与拒答仍需核验。</a:t>
            </a:r>
          </a:p>
          <a:p xmlns:a="http://schemas.openxmlformats.org/drawingml/2006/main">
            <a:pPr>
              <a:def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16161"/>
                </a:solidFill>
                <a:latin typeface="Microsoft YaHei"/>
                <a:ea typeface="Microsoft YaHei"/>
                <a:cs typeface="Microsoft YaHei"/>
              </a:rPr>
              <a:t>固定顺序、单次 CPU 计时，仅用于本次教学观察。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D1350-FE80-480E-94F9-5732A7FF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2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下一步：真实课件题集、双人复核、更多重复实验。</a:t>
            </a:r>
          </a:p>
        </p:txBody>
      </p:sp>
    </p:spTree>
    <p:extLst>
      <p:ext uri="{BB962C8B-B14F-4D97-AF65-F5344CB8AC3E}">
        <p14:creationId xmlns:p14="http://schemas.microsoft.com/office/powerpoint/2010/main" val="9704553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2026-10-18T05:51:07.0970000Z</dcterms:created>
  <dcterms:modified xsi:type="dcterms:W3CDTF">2026-10-18T05:51:07.0970000Z</dcterms:modified>
</coreProperties>
</file>