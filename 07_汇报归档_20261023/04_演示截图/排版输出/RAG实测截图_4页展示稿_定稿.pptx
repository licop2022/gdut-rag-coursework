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907f9ba1943c8" /><Relationship Type="http://schemas.openxmlformats.org/officeDocument/2006/relationships/extended-properties" Target="/docProps/app.xml" Id="R0e5ed1f4ceb34228" /><Relationship Type="http://schemas.openxmlformats.org/officeDocument/2006/relationships/officeDocument" Target="/ppt/presentation.xml" Id="Rfb0380590bc5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24f2a6ef942ac"/>
  </p:sldMasterIdLst>
  <p:notesMasterIdLst>
    <p:notesMasterId xmlns:r="http://schemas.openxmlformats.org/officeDocument/2006/relationships" r:id="Rb1f84f4fa9f54ff6"/>
  </p:notesMasterIdLst>
  <p:sldIdLst>
    <p:sldId xmlns:r="http://schemas.openxmlformats.org/officeDocument/2006/relationships" id="256" r:id="R57c6bfc93bdb4f36"/>
    <p:sldId xmlns:r="http://schemas.openxmlformats.org/officeDocument/2006/relationships" id="257" r:id="R845a8cfcef844b1b"/>
    <p:sldId xmlns:r="http://schemas.openxmlformats.org/officeDocument/2006/relationships" id="258" r:id="Reeb710b747ae46c8"/>
    <p:sldId xmlns:r="http://schemas.openxmlformats.org/officeDocument/2006/relationships" id="259" r:id="R67db6868b7c248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0dd69d75a4fa7" /><Relationship Type="http://schemas.openxmlformats.org/officeDocument/2006/relationships/slideMaster" Target="/ppt/slideMasters/slideMaster1.xml" Id="R5b424f2a6ef942ac" /><Relationship Type="http://schemas.openxmlformats.org/officeDocument/2006/relationships/notesMaster" Target="/ppt/notesMasters/notesMaster1.xml" Id="Rb1f84f4fa9f54ff6" /><Relationship Type="http://schemas.openxmlformats.org/officeDocument/2006/relationships/presProps" Target="/ppt/presProps.xml" Id="R2064445483b64d88" /><Relationship Type="http://schemas.openxmlformats.org/officeDocument/2006/relationships/tableStyles" Target="/ppt/tableStyles.xml" Id="Refc3e1b1b5bd44e7" /><Relationship Type="http://schemas.openxmlformats.org/officeDocument/2006/relationships/slide" Target="/ppt/slides/slide1.xml" Id="R57c6bfc93bdb4f36" /><Relationship Type="http://schemas.openxmlformats.org/officeDocument/2006/relationships/slide" Target="/ppt/slides/slide2.xml" Id="R845a8cfcef844b1b" /><Relationship Type="http://schemas.openxmlformats.org/officeDocument/2006/relationships/slide" Target="/ppt/slides/slide3.xml" Id="Reeb710b747ae46c8" /><Relationship Type="http://schemas.openxmlformats.org/officeDocument/2006/relationships/slide" Target="/ppt/slides/slide4.xml" Id="R67db6868b7c2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c6cd69e01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85e3b8b8a4640" /><Relationship Type="http://schemas.openxmlformats.org/officeDocument/2006/relationships/notesMaster" Target="/ppt/notesMasters/notesMaster1.xml" Id="Rf5115d0a8e06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b9e4f32ac466c" /><Relationship Type="http://schemas.openxmlformats.org/officeDocument/2006/relationships/notesMaster" Target="/ppt/notesMasters/notesMaster1.xml" Id="Rec61236fc8c0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49ee6637147f5" /><Relationship Type="http://schemas.openxmlformats.org/officeDocument/2006/relationships/notesMaster" Target="/ppt/notesMasters/notesMaster1.xml" Id="R7648b613e907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3463887724c50" /><Relationship Type="http://schemas.openxmlformats.org/officeDocument/2006/relationships/notesMaster" Target="/ppt/notesMasters/notesMaster1.xml" Id="Rf408891d5879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建议讲解约30秒：先指出A07-C01在向量检索中排第4，重排序后第1。候选集合相同，最终只取前2条，因此关键申请条件进入模型上下文。证据来源：用户实际演示截图 ScreenShot_2026-10-21_201234_596.png。模型：原始Qwen3.5-9B；本例chunk 380/重叠60；不要据此宣称整体准确率提升。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30秒：左侧回答资料不足，右侧回答不可以，并引用A07-C01。基础RAG在本例拒答是证据不足时的合理行为；重点是重排使更直接的条款进入上下文。图中问题是带学生工作背景的完整提问，页上文字概括核心问题。来源：ScreenShot_2026-10-21_201227_876.png；ScreenShot_2026-10-21_201243_907.png。未勾选LoRA，使用原始9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40秒：控制同一问题、原始9B、Rerank路线、Top-5候选到Top-2上下文。A80/10得到65块、证据160字，B380/60得到27块、证据524字；两组入选条款均为A07和A14。本例B保留更多完整条款，并在回答中列出9项条件。截图取开头和后半段回答，属于节选，不是完整回答。黄色是网页文字差异标记，不代表准确性评分。指标来源：ScreenShot_2026-10-21_201144_091.png；回答来源：ScreenShot_2026-10-21_201157_691.png。不展示耗时，单次共享GPU记录不能用来推断普遍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建议备答或补充15秒。来源：ScreenShot_2026-10-21_201210_589.png。仅裁剪、放大和拼接真实截图；保留原网页黄色差异标记，未修改原文。A07两组证据范围分别0—80与0—234，单条差154字；两条证据总量分别160与524字，总差364字。不要把单条234与方案chunk设定380混淆：380是分块上限，条款实际长度234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e28df3a3a44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6a3ae9ac14f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0e5c71faf46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f83ad69c040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b4a12d07442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774fcfd1a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18311-B33B-4450-95F7-643D4928C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134766-19D6-4C0F-9DCB-F60CC57158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C3803E-3CE7-4505-93BD-EAFCA92A0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2F822A-1E22-4C0E-A3F5-750AB9D73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F5248F-0D3B-457D-8E1F-ABDC44962D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14C498-1296-4F57-A1DF-4BB250C5A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CCFD7C-3A62-4E08-A353-FACDC3A53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E44157-DA72-4DFA-A495-F4CE104E52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D74BB3-C610-4DB9-818B-2ADF625C2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408DC7-1C1B-4D82-BBAB-B75ED7E347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30af7098545f9" /><Relationship Type="http://schemas.openxmlformats.org/officeDocument/2006/relationships/slideLayout" Target="/ppt/slideLayouts/slideLayout1.xml" Id="Rb5159ce9e7e9497a" /><Relationship Type="http://schemas.openxmlformats.org/officeDocument/2006/relationships/slideLayout" Target="/ppt/slideLayouts/slideLayout2.xml" Id="R8f9a807814774835" /><Relationship Type="http://schemas.openxmlformats.org/officeDocument/2006/relationships/slideLayout" Target="/ppt/slideLayouts/slideLayout3.xml" Id="Rbdc8ab9d62e84796" /><Relationship Type="http://schemas.openxmlformats.org/officeDocument/2006/relationships/slideLayout" Target="/ppt/slideLayouts/slideLayout4.xml" Id="Rb5325348f6a54b4d" /><Relationship Type="http://schemas.openxmlformats.org/officeDocument/2006/relationships/slideLayout" Target="/ppt/slideLayouts/slideLayout5.xml" Id="Rd5a53c9e480b4c10" /><Relationship Type="http://schemas.openxmlformats.org/officeDocument/2006/relationships/slideLayout" Target="/ppt/slideLayouts/slideLayout6.xml" Id="Rc62ded63e5db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159ce9e7e9497a"/>
    <p:sldLayoutId xmlns:r="http://schemas.openxmlformats.org/officeDocument/2006/relationships" id="2147483650" r:id="R8f9a807814774835"/>
    <p:sldLayoutId xmlns:r="http://schemas.openxmlformats.org/officeDocument/2006/relationships" id="2147483651" r:id="Rbdc8ab9d62e84796"/>
    <p:sldLayoutId xmlns:r="http://schemas.openxmlformats.org/officeDocument/2006/relationships" id="2147483652" r:id="Rb5325348f6a54b4d"/>
    <p:sldLayoutId xmlns:r="http://schemas.openxmlformats.org/officeDocument/2006/relationships" id="2147483653" r:id="Rd5a53c9e480b4c10"/>
    <p:sldLayoutId xmlns:r="http://schemas.openxmlformats.org/officeDocument/2006/relationships" id="2147483654" r:id="Rc62ded63e5db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433e4a8ce42e1" /><Relationship Type="http://schemas.openxmlformats.org/officeDocument/2006/relationships/image" Target="/ppt/media/image.png" Id="R2c0a3be73cd8494d" /><Relationship Type="http://schemas.openxmlformats.org/officeDocument/2006/relationships/notesSlide" Target="/ppt/notesSlides/notesSlide1.xml" Id="Rb85739be10d0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5920155f347fb" /><Relationship Type="http://schemas.openxmlformats.org/officeDocument/2006/relationships/image" Target="/ppt/media/image2.png" Id="R9a7e3e6dc4ff4f33" /><Relationship Type="http://schemas.openxmlformats.org/officeDocument/2006/relationships/image" Target="/ppt/media/image3.png" Id="R378dbddf2d6f4856" /><Relationship Type="http://schemas.openxmlformats.org/officeDocument/2006/relationships/notesSlide" Target="/ppt/notesSlides/notesSlide2.xml" Id="R50d6e8a241d5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eeb8183074707" /><Relationship Type="http://schemas.openxmlformats.org/officeDocument/2006/relationships/image" Target="/ppt/media/image4.png" Id="R4e1c0939d3ea4d29" /><Relationship Type="http://schemas.openxmlformats.org/officeDocument/2006/relationships/image" Target="/ppt/media/image5.png" Id="R83dbf3bcc11b417c" /><Relationship Type="http://schemas.openxmlformats.org/officeDocument/2006/relationships/image" Target="/ppt/media/image6.png" Id="R877c9a443a2842c9" /><Relationship Type="http://schemas.openxmlformats.org/officeDocument/2006/relationships/image" Target="/ppt/media/image7.png" Id="Rb8d61b053d5b4e56" /><Relationship Type="http://schemas.openxmlformats.org/officeDocument/2006/relationships/notesSlide" Target="/ppt/notesSlides/notesSlide3.xml" Id="R138c0c52d9a6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c1696a8404f47" /><Relationship Type="http://schemas.openxmlformats.org/officeDocument/2006/relationships/image" Target="/ppt/media/image8.png" Id="R0ad3309655c4495c" /><Relationship Type="http://schemas.openxmlformats.org/officeDocument/2006/relationships/image" Target="/ppt/media/image9.png" Id="Ra13360a764bc4eb1" /><Relationship Type="http://schemas.openxmlformats.org/officeDocument/2006/relationships/notesSlide" Target="/ppt/notesSlides/notesSlide4.xml" Id="R85657978db154f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5B46C05-69E8-4C1E-BD4A-5CB7C9E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重排序把关键条款从第 4 名提到第 1 名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3C74BE-969B-4397-B2BF-8E0E3A88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同一批 Top-5 候选，只改变排序；最终仅将前 2 条证据送入模型。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4354434-3FE7-4270-863E-1E9000A9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7CB6B-7849-4B79-8DF6-B915890FC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a3be73cd8494d"/>
          <a:srcRect xmlns:a="http://schemas.openxmlformats.org/drawingml/2006/main" l="2918" t="30151" r="4378" b="7789"/>
          <a:stretch xmlns:a="http://schemas.openxmlformats.org/drawingml/2006/main"/>
        </p:blipFill>
        <p:spPr>
          <a:xfrm xmlns:a="http://schemas.openxmlformats.org/drawingml/2006/main">
            <a:off x="571500" y="1771650"/>
            <a:ext cx="11049000" cy="2526947"/>
          </a:xfrm>
          <a:prstGeom xmlns:a="http://schemas.openxmlformats.org/drawingml/2006/main" prst="rect">
            <a:avLst/>
          </a:prstGeom>
        </p:spPr>
      </p:pic>
      <p:sp>
        <p:nvSpPr>
          <p:cNvPr id="5" name="finding">
            <a:extLst xmlns:a="http://schemas.openxmlformats.org/drawingml/2006/main">
              <a:ext uri="{FF2B5EF4-FFF2-40B4-BE49-F238E27FC236}">
                <a16:creationId xmlns:a16="http://schemas.microsoft.com/office/drawing/2014/main" id="{9B5423F6-7E01-4F7A-B169-7620508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A07-C01：向量第 4 名  →  重排第 1 名</a:t>
            </a:r>
          </a:p>
        </p:txBody>
      </p:sp>
      <p:sp>
        <p:nvSpPr>
          <p:cNvPr id="6" name="meaning">
            <a:extLst xmlns:a="http://schemas.openxmlformats.org/drawingml/2006/main">
              <a:ext uri="{FF2B5EF4-FFF2-40B4-BE49-F238E27FC236}">
                <a16:creationId xmlns:a16="http://schemas.microsoft.com/office/drawing/2014/main" id="{15B11946-6270-4143-8124-B9EA12C2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申请条件条款因此进入前 2 条证据，</a:t>
            </a:r>
          </a:p>
          <a:p xmlns:a="http://schemas.openxmlformats.org/drawingml/2006/main">
            <a: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为后续回答提供直接依据。</a:t>
            </a:r>
          </a:p>
        </p:txBody>
      </p:sp>
    </p:spTree>
    <p:extLst>
      <p:ext uri="{BB962C8B-B14F-4D97-AF65-F5344CB8AC3E}">
        <p14:creationId xmlns:p14="http://schemas.microsoft.com/office/powerpoint/2010/main" val="1132129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113C251-B3D3-4AB6-8DCA-3C313C8E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证据变化后，回答从资料不足变为明确判断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B27F6F-8D18-4A7B-A3F6-DC1591AE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问题核心：当年度有不及格课程，可以申请学业奖学金吗？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EC826BC-FBC3-4DAB-BBAE-D4732F8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E177D-9474-4141-B97E-A1FFB306C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e3e6dc4ff4f33"/>
          <a:srcRect xmlns:a="http://schemas.openxmlformats.org/drawingml/2006/main" l="2244" t="46422" r="4655" b="1835"/>
          <a:stretch xmlns:a="http://schemas.openxmlformats.org/drawingml/2006/main"/>
        </p:blipFill>
        <p:spPr>
          <a:xfrm xmlns:a="http://schemas.openxmlformats.org/drawingml/2006/main">
            <a:off x="571500" y="1695450"/>
            <a:ext cx="11049000" cy="2781980"/>
          </a:xfrm>
          <a:prstGeom xmlns:a="http://schemas.openxmlformats.org/drawingml/2006/main" prst="rect">
            <a:avLst/>
          </a:prstGeom>
        </p:spPr>
      </p:pic>
      <p:sp>
        <p:nvSpPr>
          <p:cNvPr id="5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43B29DA1-26E2-4D25-BE77-A9CEEC8B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依据：A07-C01 第七条（七）“当年度无不及格课程”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A9EFE-C38E-4BAB-B188-99BF35115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dbddf2d6f4856"/>
          <a:srcRect xmlns:a="http://schemas.openxmlformats.org/drawingml/2006/main" l="3889" t="61558" r="2334" b="25287"/>
          <a:stretch xmlns:a="http://schemas.openxmlformats.org/drawingml/2006/main"/>
        </p:blipFill>
        <p:spPr>
          <a:xfrm xmlns:a="http://schemas.openxmlformats.org/drawingml/2006/main">
            <a:off x="571500" y="5362575"/>
            <a:ext cx="11049000" cy="10488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8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1531EE37-B994-41B6-84DF-6CDCF08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chunk 长度改变了本例回答的完整性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DF4987-F25A-4477-B344-D7F62CB0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问题：申请学业奖学金有哪些条件？请列出全部条件。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D141FF3-0106-4393-BD67-89E8846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a-label">
            <a:extLst xmlns:a="http://schemas.openxmlformats.org/drawingml/2006/main">
              <a:ext uri="{FF2B5EF4-FFF2-40B4-BE49-F238E27FC236}">
                <a16:creationId xmlns:a16="http://schemas.microsoft.com/office/drawing/2014/main" id="{009733D1-7D5E-47C6-956E-BAC9505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rPr>
              <a:t>方案 A：chunk 80 / 重叠 10</a:t>
            </a:r>
          </a:p>
        </p:txBody>
      </p:sp>
      <p:sp>
        <p:nvSpPr>
          <p:cNvPr id="5" name="b-label">
            <a:extLst xmlns:a="http://schemas.openxmlformats.org/drawingml/2006/main">
              <a:ext uri="{FF2B5EF4-FFF2-40B4-BE49-F238E27FC236}">
                <a16:creationId xmlns:a16="http://schemas.microsoft.com/office/drawing/2014/main" id="{A4B3B328-A0B1-40ED-9105-5FAE10D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方案 B：chunk 380 / 重叠 60</a:t>
            </a:r>
          </a:p>
        </p:txBody>
      </p:sp>
      <p:sp>
        <p:nvSpPr>
          <p:cNvPr id="6" name="a-metric">
            <a:extLst xmlns:a="http://schemas.openxmlformats.org/drawingml/2006/main">
              <a:ext uri="{FF2B5EF4-FFF2-40B4-BE49-F238E27FC236}">
                <a16:creationId xmlns:a16="http://schemas.microsoft.com/office/drawing/2014/main" id="{46E1C75E-6A68-42F0-83D8-9FE8CEA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65 个分块 · 实际送入证据 160 字</a:t>
            </a:r>
          </a:p>
        </p:txBody>
      </p:sp>
      <p:sp>
        <p:nvSpPr>
          <p:cNvPr id="7" name="b-metric">
            <a:extLst xmlns:a="http://schemas.openxmlformats.org/drawingml/2006/main">
              <a:ext uri="{FF2B5EF4-FFF2-40B4-BE49-F238E27FC236}">
                <a16:creationId xmlns:a16="http://schemas.microsoft.com/office/drawing/2014/main" id="{F7238DF4-911F-4CA5-90AE-C805161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27 个分块 · 实际送入证据 524 字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EE983-4424-4B4C-94D7-CA6915226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c0939d3ea4d29"/>
          <a:srcRect xmlns:a="http://schemas.openxmlformats.org/drawingml/2006/main" l="4490" t="16020" r="55020" b="72090"/>
          <a:stretch xmlns:a="http://schemas.openxmlformats.org/drawingml/2006/main"/>
        </p:blipFill>
        <p:spPr>
          <a:xfrm xmlns:a="http://schemas.openxmlformats.org/drawingml/2006/main">
            <a:off x="571500" y="2552700"/>
            <a:ext cx="5238750" cy="100339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BADE2-9D01-41A6-AC29-2E84A4BFBF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bf3bcc11b417c"/>
          <a:srcRect xmlns:a="http://schemas.openxmlformats.org/drawingml/2006/main" l="49306" t="16020" r="10612" b="76220"/>
          <a:stretch xmlns:a="http://schemas.openxmlformats.org/drawingml/2006/main"/>
        </p:blipFill>
        <p:spPr>
          <a:xfrm xmlns:a="http://schemas.openxmlformats.org/drawingml/2006/main">
            <a:off x="6286500" y="2552700"/>
            <a:ext cx="5238750" cy="661512"/>
          </a:xfrm>
          <a:prstGeom xmlns:a="http://schemas.openxmlformats.org/drawingml/2006/main" prst="rect">
            <a:avLst/>
          </a:prstGeom>
        </p:spPr>
      </p:pic>
      <p:sp>
        <p:nvSpPr>
          <p:cNvPr id="10" name="a-excerpt-label">
            <a:extLst xmlns:a="http://schemas.openxmlformats.org/drawingml/2006/main">
              <a:ext uri="{FF2B5EF4-FFF2-40B4-BE49-F238E27FC236}">
                <a16:creationId xmlns:a16="http://schemas.microsoft.com/office/drawing/2014/main" id="{93AF8B82-AC26-43C0-85D7-E7207D2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rPr>
              <a:t>回答节选：额外要求仍有内容被截断</a:t>
            </a:r>
          </a:p>
        </p:txBody>
      </p:sp>
      <p:sp>
        <p:nvSpPr>
          <p:cNvPr id="11" name="b-excerpt-label">
            <a:extLst xmlns:a="http://schemas.openxmlformats.org/drawingml/2006/main">
              <a:ext uri="{FF2B5EF4-FFF2-40B4-BE49-F238E27FC236}">
                <a16:creationId xmlns:a16="http://schemas.microsoft.com/office/drawing/2014/main" id="{0E02A359-DDB7-4CC3-A490-E91BBF6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回答节选：已列出 9 项条件中的第 7—9 项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B32AA-7DA7-44D0-8364-8AFEB7D4A6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c9a443a2842c9"/>
          <a:srcRect xmlns:a="http://schemas.openxmlformats.org/drawingml/2006/main" l="4490" t="67459" r="55020" b="11514"/>
          <a:stretch xmlns:a="http://schemas.openxmlformats.org/drawingml/2006/main"/>
        </p:blipFill>
        <p:spPr>
          <a:xfrm xmlns:a="http://schemas.openxmlformats.org/drawingml/2006/main">
            <a:off x="571500" y="4152900"/>
            <a:ext cx="5238750" cy="177441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FA01D-AC35-48AB-A04F-6A81D4767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61b053d5b4e56"/>
          <a:srcRect xmlns:a="http://schemas.openxmlformats.org/drawingml/2006/main" l="49306" t="54318" r="10612" b="20526"/>
          <a:stretch xmlns:a="http://schemas.openxmlformats.org/drawingml/2006/main"/>
        </p:blipFill>
        <p:spPr>
          <a:xfrm xmlns:a="http://schemas.openxmlformats.org/drawingml/2006/main">
            <a:off x="6286500" y="4152900"/>
            <a:ext cx="5238750" cy="2144580"/>
          </a:xfrm>
          <a:prstGeom xmlns:a="http://schemas.openxmlformats.org/drawingml/2006/main" prst="rect">
            <a:avLst/>
          </a:prstGeom>
        </p:spPr>
      </p:pic>
      <p:sp>
        <p:nvSpPr>
          <p:cNvPr id="14" name="limit">
            <a:extLst xmlns:a="http://schemas.openxmlformats.org/drawingml/2006/main">
              <a:ext uri="{FF2B5EF4-FFF2-40B4-BE49-F238E27FC236}">
                <a16:creationId xmlns:a16="http://schemas.microsoft.com/office/drawing/2014/main" id="{E220E5D7-D87C-4C2B-B45D-D07FA88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本例较长 chunk 保留了更多条款；黄色标记仅表示两组文字差异。</a:t>
            </a:r>
          </a:p>
        </p:txBody>
      </p:sp>
    </p:spTree>
    <p:extLst>
      <p:ext uri="{BB962C8B-B14F-4D97-AF65-F5344CB8AC3E}">
        <p14:creationId xmlns:p14="http://schemas.microsoft.com/office/powerpoint/2010/main" val="1056822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933B41E-3A40-483A-8E77-DF18159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原文证据：80 字在条款中间截断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367219-746E-4135-92BD-07B3BF04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备答页｜同一条 A07-C01，查看实际送入模型的原文范围。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40F9A19-C5E3-47EA-86DC-CA877178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a-label">
            <a:extLst xmlns:a="http://schemas.openxmlformats.org/drawingml/2006/main">
              <a:ext uri="{FF2B5EF4-FFF2-40B4-BE49-F238E27FC236}">
                <a16:creationId xmlns:a16="http://schemas.microsoft.com/office/drawing/2014/main" id="{4512BCDF-3531-41A8-8F46-EBDAB72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689E"/>
                </a:solidFill>
                <a:latin typeface="Microsoft YaHei"/>
                <a:ea typeface="Microsoft YaHei"/>
                <a:cs typeface="Microsoft YaHei"/>
              </a:rPr>
              <a:t>方案 A：原条款字符 0—80</a:t>
            </a:r>
          </a:p>
        </p:txBody>
      </p:sp>
      <p:sp>
        <p:nvSpPr>
          <p:cNvPr id="5" name="b-label">
            <a:extLst xmlns:a="http://schemas.openxmlformats.org/drawingml/2006/main">
              <a:ext uri="{FF2B5EF4-FFF2-40B4-BE49-F238E27FC236}">
                <a16:creationId xmlns:a16="http://schemas.microsoft.com/office/drawing/2014/main" id="{CE4EF0CB-CB6C-4466-95A6-4F76C15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1930"/>
                </a:solidFill>
                <a:latin typeface="Microsoft YaHei"/>
                <a:ea typeface="Microsoft YaHei"/>
                <a:cs typeface="Microsoft YaHei"/>
              </a:rPr>
              <a:t>方案 B：原条款字符 0—234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A6C8-3AF1-4719-A5DE-91C2E32F5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3309655c4495c"/>
          <a:srcRect xmlns:a="http://schemas.openxmlformats.org/drawingml/2006/main" l="3785" t="44727" r="54247" b="38667"/>
          <a:stretch xmlns:a="http://schemas.openxmlformats.org/drawingml/2006/main"/>
        </p:blipFill>
        <p:spPr>
          <a:xfrm xmlns:a="http://schemas.openxmlformats.org/drawingml/2006/main">
            <a:off x="571500" y="2209800"/>
            <a:ext cx="5238750" cy="1438294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0D826-928D-4038-BA73-C5431D54C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360a764bc4eb1"/>
          <a:srcRect xmlns:a="http://schemas.openxmlformats.org/drawingml/2006/main" l="49790" t="7394" r="8579" b="61091"/>
          <a:stretch xmlns:a="http://schemas.openxmlformats.org/drawingml/2006/main"/>
        </p:blipFill>
        <p:spPr>
          <a:xfrm xmlns:a="http://schemas.openxmlformats.org/drawingml/2006/main">
            <a:off x="6286500" y="2209800"/>
            <a:ext cx="5238750" cy="2751667"/>
          </a:xfrm>
          <a:prstGeom xmlns:a="http://schemas.openxmlformats.org/drawingml/2006/main" prst="rect">
            <a:avLst/>
          </a:prstGeom>
        </p:spPr>
      </p:pic>
      <p:sp>
        <p:nvSpPr>
          <p:cNvPr id="8" name="a-explain">
            <a:extLst xmlns:a="http://schemas.openxmlformats.org/drawingml/2006/main">
              <a:ext uri="{FF2B5EF4-FFF2-40B4-BE49-F238E27FC236}">
                <a16:creationId xmlns:a16="http://schemas.microsoft.com/office/drawing/2014/main" id="{3B5C6A0A-F216-48DA-9E63-11CB733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后续条件未进入上下文，</a:t>
            </a:r>
          </a:p>
          <a:p xmlns:a="http://schemas.openxmlformats.org/drawingml/2006/main">
            <a:pPr>
              <a:def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模型只能看到条款开头。</a:t>
            </a:r>
          </a:p>
        </p:txBody>
      </p:sp>
      <p:sp>
        <p:nvSpPr>
          <p:cNvPr id="9" name="b-explain">
            <a:extLst xmlns:a="http://schemas.openxmlformats.org/drawingml/2006/main">
              <a:ext uri="{FF2B5EF4-FFF2-40B4-BE49-F238E27FC236}">
                <a16:creationId xmlns:a16="http://schemas.microsoft.com/office/drawing/2014/main" id="{984E7EA1-047E-456C-AA80-5411A96B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补齐在校类型、课程成绩、</a:t>
            </a:r>
          </a:p>
          <a:p xmlns:a="http://schemas.openxmlformats.org/drawingml/2006/main">
            <a:pPr>
              <a:def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62E"/>
                </a:solidFill>
                <a:latin typeface="Microsoft YaHei"/>
                <a:ea typeface="Microsoft YaHei"/>
                <a:cs typeface="Microsoft YaHei"/>
              </a:rPr>
              <a:t>注册缴费等后续条件。</a:t>
            </a:r>
          </a:p>
        </p:txBody>
      </p:sp>
      <p:sp>
        <p:nvSpPr>
          <p:cNvPr id="10" name="limit">
            <a:extLst xmlns:a="http://schemas.openxmlformats.org/drawingml/2006/main">
              <a:ext uri="{FF2B5EF4-FFF2-40B4-BE49-F238E27FC236}">
                <a16:creationId xmlns:a16="http://schemas.microsoft.com/office/drawing/2014/main" id="{B2E45083-484D-421A-BB20-D57E6BD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rPr>
              <a:t>演示结论：结合原文检查回答完整性，不能仅凭文字差异判断优劣。</a:t>
            </a:r>
          </a:p>
        </p:txBody>
      </p:sp>
    </p:spTree>
    <p:extLst>
      <p:ext uri="{BB962C8B-B14F-4D97-AF65-F5344CB8AC3E}">
        <p14:creationId xmlns:p14="http://schemas.microsoft.com/office/powerpoint/2010/main" val="1855172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2026-10-21T12:26:27.4390000Z</dcterms:created>
  <dcterms:modified xsi:type="dcterms:W3CDTF">2026-10-21T12:26:27.4390000Z</dcterms:modified>
</coreProperties>
</file>