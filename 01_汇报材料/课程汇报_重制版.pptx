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d0477a60f64b5a" /><Relationship Type="http://schemas.openxmlformats.org/officeDocument/2006/relationships/extended-properties" Target="/docProps/app.xml" Id="Rca1a8d73dade4109" /><Relationship Type="http://schemas.openxmlformats.org/officeDocument/2006/relationships/officeDocument" Target="/ppt/presentation.xml" Id="Rffebf11a5fce47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702799008a456e"/>
  </p:sldMasterIdLst>
  <p:notesMasterIdLst>
    <p:notesMasterId xmlns:r="http://schemas.openxmlformats.org/officeDocument/2006/relationships" r:id="R55c6c27fdc974503"/>
  </p:notesMasterIdLst>
  <p:sldIdLst>
    <p:sldId xmlns:r="http://schemas.openxmlformats.org/officeDocument/2006/relationships" id="256" r:id="R425a7970b4ef4738"/>
    <p:sldId xmlns:r="http://schemas.openxmlformats.org/officeDocument/2006/relationships" id="257" r:id="R2e50c208d0784290"/>
    <p:sldId xmlns:r="http://schemas.openxmlformats.org/officeDocument/2006/relationships" id="258" r:id="R9d663248a3df436b"/>
    <p:sldId xmlns:r="http://schemas.openxmlformats.org/officeDocument/2006/relationships" id="259" r:id="R3c7d1fc6c0ad405c"/>
    <p:sldId xmlns:r="http://schemas.openxmlformats.org/officeDocument/2006/relationships" id="260" r:id="Rde4c48c3cdec4ea2"/>
    <p:sldId xmlns:r="http://schemas.openxmlformats.org/officeDocument/2006/relationships" id="261" r:id="Rf2313dc83cc647dc"/>
    <p:sldId xmlns:r="http://schemas.openxmlformats.org/officeDocument/2006/relationships" id="262" r:id="Rc5b07023b75447f6"/>
    <p:sldId xmlns:r="http://schemas.openxmlformats.org/officeDocument/2006/relationships" id="263" r:id="R96f6108445044c30"/>
    <p:sldId xmlns:r="http://schemas.openxmlformats.org/officeDocument/2006/relationships" id="264" r:id="Rc6788c34c2674567"/>
    <p:sldId xmlns:r="http://schemas.openxmlformats.org/officeDocument/2006/relationships" id="265" r:id="R287bdc7e878c4fad"/>
    <p:sldId xmlns:r="http://schemas.openxmlformats.org/officeDocument/2006/relationships" id="266" r:id="R8885ce15b2af403d"/>
    <p:sldId xmlns:r="http://schemas.openxmlformats.org/officeDocument/2006/relationships" id="267" r:id="R726038927bd340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d984e47e4b462e" /><Relationship Type="http://schemas.openxmlformats.org/officeDocument/2006/relationships/slideMaster" Target="/ppt/slideMasters/slideMaster1.xml" Id="R85702799008a456e" /><Relationship Type="http://schemas.openxmlformats.org/officeDocument/2006/relationships/notesMaster" Target="/ppt/notesMasters/notesMaster1.xml" Id="R55c6c27fdc974503" /><Relationship Type="http://schemas.openxmlformats.org/officeDocument/2006/relationships/presProps" Target="/ppt/presProps.xml" Id="R1279db8ed4ce4752" /><Relationship Type="http://schemas.openxmlformats.org/officeDocument/2006/relationships/tableStyles" Target="/ppt/tableStyles.xml" Id="R39139a275e064572" /><Relationship Type="http://schemas.openxmlformats.org/officeDocument/2006/relationships/slide" Target="/ppt/slides/slide1.xml" Id="R425a7970b4ef4738" /><Relationship Type="http://schemas.openxmlformats.org/officeDocument/2006/relationships/slide" Target="/ppt/slides/slide2.xml" Id="R2e50c208d0784290" /><Relationship Type="http://schemas.openxmlformats.org/officeDocument/2006/relationships/slide" Target="/ppt/slides/slide3.xml" Id="R9d663248a3df436b" /><Relationship Type="http://schemas.openxmlformats.org/officeDocument/2006/relationships/slide" Target="/ppt/slides/slide4.xml" Id="R3c7d1fc6c0ad405c" /><Relationship Type="http://schemas.openxmlformats.org/officeDocument/2006/relationships/slide" Target="/ppt/slides/slide5.xml" Id="Rde4c48c3cdec4ea2" /><Relationship Type="http://schemas.openxmlformats.org/officeDocument/2006/relationships/slide" Target="/ppt/slides/slide6.xml" Id="Rf2313dc83cc647dc" /><Relationship Type="http://schemas.openxmlformats.org/officeDocument/2006/relationships/slide" Target="/ppt/slides/slide7.xml" Id="Rc5b07023b75447f6" /><Relationship Type="http://schemas.openxmlformats.org/officeDocument/2006/relationships/slide" Target="/ppt/slides/slide8.xml" Id="R96f6108445044c30" /><Relationship Type="http://schemas.openxmlformats.org/officeDocument/2006/relationships/slide" Target="/ppt/slides/slide9.xml" Id="Rc6788c34c2674567" /><Relationship Type="http://schemas.openxmlformats.org/officeDocument/2006/relationships/slide" Target="/ppt/slides/slide10.xml" Id="R287bdc7e878c4fad" /><Relationship Type="http://schemas.openxmlformats.org/officeDocument/2006/relationships/slide" Target="/ppt/slides/slide11.xml" Id="R8885ce15b2af403d" /><Relationship Type="http://schemas.openxmlformats.org/officeDocument/2006/relationships/slide" Target="/ppt/slides/slide12.xml" Id="R726038927bd340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e7a51f82bf49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d58bb3a8f44dc" /><Relationship Type="http://schemas.openxmlformats.org/officeDocument/2006/relationships/notesMaster" Target="/ppt/notesMasters/notesMaster1.xml" Id="R5bc971c3a3664e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089c68baed4fe8" /><Relationship Type="http://schemas.openxmlformats.org/officeDocument/2006/relationships/notesMaster" Target="/ppt/notesMasters/notesMaster1.xml" Id="Re6cd393fc21f46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56375fb7a84cbf" /><Relationship Type="http://schemas.openxmlformats.org/officeDocument/2006/relationships/notesMaster" Target="/ppt/notesMasters/notesMaster1.xml" Id="R93aeb55e9ef043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76532783f46c2" /><Relationship Type="http://schemas.openxmlformats.org/officeDocument/2006/relationships/notesMaster" Target="/ppt/notesMasters/notesMaster1.xml" Id="R8414ce092faa47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d7ff1b87734d72" /><Relationship Type="http://schemas.openxmlformats.org/officeDocument/2006/relationships/notesMaster" Target="/ppt/notesMasters/notesMaster1.xml" Id="Re26bea246b0a4a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7ad8e7c35b469b" /><Relationship Type="http://schemas.openxmlformats.org/officeDocument/2006/relationships/notesMaster" Target="/ppt/notesMasters/notesMaster1.xml" Id="Rc877b6a1cc9b47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0a07295fd24ddf" /><Relationship Type="http://schemas.openxmlformats.org/officeDocument/2006/relationships/notesMaster" Target="/ppt/notesMasters/notesMaster1.xml" Id="R60a5f9ace5094a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5e86c3b1fa4566" /><Relationship Type="http://schemas.openxmlformats.org/officeDocument/2006/relationships/notesMaster" Target="/ppt/notesMasters/notesMaster1.xml" Id="Rb3ce467ed20c46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a7d1d959374060" /><Relationship Type="http://schemas.openxmlformats.org/officeDocument/2006/relationships/notesMaster" Target="/ppt/notesMasters/notesMaster1.xml" Id="Rf1d3a4c2b6d44e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356ff3f7e944d9" /><Relationship Type="http://schemas.openxmlformats.org/officeDocument/2006/relationships/notesMaster" Target="/ppt/notesMasters/notesMaster1.xml" Id="R5a278e66a22f47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5d79a94a774f01" /><Relationship Type="http://schemas.openxmlformats.org/officeDocument/2006/relationships/notesMaster" Target="/ppt/notesMasters/notesMaster1.xml" Id="R4c356ab390864e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68bfc896554227" /><Relationship Type="http://schemas.openxmlformats.org/officeDocument/2006/relationships/notesMaster" Target="/ppt/notesMasters/notesMaster1.xml" Id="R33897d0d41854d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成员甲，10秒：我们做的是课程资料问答中的重排序实验。今天沿着一个问题展开：找到相关资料以后，增加重排能否让证据和回答都更可靠？</a:t>
            </a:r>
          </a:p>
          <a:p xmlns:a="http://schemas.openxmlformats.org/drawingml/2006/main">
            <a:r>
              <a:t>校园照片来源：https://photo.gdut.edu.cn/info/1026/2675.htm ，原图：https://photo.gdut.edu.cn/__local/E/F1/23/A1D38E3525FFD9567769896F424_087ABE40_AF8E31.jpg 。校徽校名：https://www.gdut.edu.cn/images2020/logo.png 。本设计为课程汇报自制版，不是校方官方模板。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甲，25秒：我们先区分证据排序和答案生成。重排序直接改变的是候选片段的顺序，最终回答还依赖生成模型。因此不能只看一个检索指标就宣布系统更好了。我们先讲方法，再给出同题对照、排序案例和回答核验。来源：https://arxiv.org/abs/2005.11401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乙，25秒：离线把资料切分，用BGE编码为向量，并保存片段来源。在线先编码问题，召回十个候选，重排组增加红色这一环节，两组最后都只给生成器三个片段。向量检索用NumPy精确扫描，本次没有部署Milvus。来源：https://huggingface.co/BAAI/bge-small-zh-v1.5；https://sbert.net/examples/sentence_transformer/applications/retrieve_rerank/README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乙，40秒：切分参数是一百八十字符，重叠三十六字符。太短会切断条件，太长会混入干扰。编码后比较的是向量方向，也就是余弦相似度，公式中的q是问题，d_i是片段，e是BGE向量。我们先归一化，所以计算时直接点积即可。这里的相关分数不是答案正确概率。LaTeX源码：s(q,d_i)=\frac{\mathbf{e}_q^{\mathsf T}\mathbf{e}_i}{\lVert\mathbf{e}_q\rVert_2\,\lVert\mathbf{e}_i\rVert_2}</a:t>
            </a:r>
          </a:p>
          <a:p xmlns:a="http://schemas.openxmlformats.org/drawingml/2006/main">
            <a:r>
              <a:t>s(q,d_i)=\widehat{\mathbf e}_q^{\mathsf T}\widehat{\mathbf e}_i</a:t>
            </a:r>
          </a:p>
          <a:p xmlns:a="http://schemas.openxmlformats.org/drawingml/2006/main">
            <a:r>
              <a:t>来源：https://huggingface.co/BAAI/bge-small-zh-v1.5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丙，35秒：两种模型的区别在于如何看输入。Bi-Encoder分别编码问题和片段，便于先缓存文档向量。Cross-Encoder把问题与候选联合输入，逐对评分，所以我们只精排十个候选。公式f_theta是训练好的文本对打分模型。它只能改变已有候选，不能补回漏召回的证据。LaTeX：\mathbf e_q=E(q),\qquad \mathbf e_i=E(d_i)</a:t>
            </a:r>
          </a:p>
          <a:p xmlns:a="http://schemas.openxmlformats.org/drawingml/2006/main">
            <a:r>
              <a:t>r_i=f_{\theta}\!\left([q\,;\,d_i]\right)</a:t>
            </a:r>
          </a:p>
          <a:p xmlns:a="http://schemas.openxmlformats.org/drawingml/2006/main">
            <a:r>
              <a:t>来源：https://huggingface.co/cross-encoder/mmarco-mMiniLMv2-L12-H384-v1；https://sbert.net/examples/sentence_transformer/applications/retrieve_rerank/README.html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丁，20秒：我们用二十篇自编资料、十二道固定题。两组每题共享同一批十个候选，最后上下文都是三个，生成设置相同。资料外题不参与检索命中率，而单独看拒答。参考答案只用于评价。该题集是教学内部测试，不是外部盲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丙，30秒：先看向量原序，讨论证据完整性的片段只排第四。重排后，它到了第一，原文明确说明相关片段不等于覆盖全部事实。这个例子证明排序确实发生了变化。它来自额外的口语化探索，只展示机制，不与固定十二题混算。片段ID为D08-C02，完整候选及分数见results/supplementary_ranking_probe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丁，25秒：图左是检索，两个Hit@3都是百分之百。图右是回答，初评满分都只有三题。检索指标在这个简单题集上已达上限，但生成模型仍会犯错。重排步骤平均增加约0.45秒。初评由助手阅读完成，需要组员复核，不能称作独立盲评。主实验原始数值见results/summary.json，回答见results/answer_review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丙，45秒，包含切屏：打开已预热Notebook的Q10单元格，运行一次查询。两组都有D15-C01，前两名不变，第三个上下文改变。基础回答泛泛说配置更新，重排后明确说到语义空间变化，随后打开D15-C01核对。这个个例只说明上下文变化可能影响生成，不能推出普遍收益。若现场等待或失败，使用保存的实验结果预览并说明。此页使用原始回答的节选，未改写模型原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丁，15秒：回到开头的问题，排序层可以改变优先级，但整体指标在这个小题集上没有提升，生成仍有明显错误。下一步应先换真实课件的独立题集，再做双人核验和重复实验。到这里结束主讲，后两页只用于备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备答，不计入5分钟主讲。两组Hit@1、Hit@3均为1，MRR@3均为1。定义基于文档级gold_docs，并不保证片段覆盖所有必要证据。LaTeX源：\operatorname{Hit@3}=\frac{1}{N}\sum_{j=1}^{N}\mathbf{1}\!\left[\rho_j\leq3\right]</a:t>
            </a:r>
          </a:p>
          <a:p xmlns:a="http://schemas.openxmlformats.org/drawingml/2006/main">
            <a:r>
              <a:t>\operatorname{MRR@3}=\frac{1}{N}\sum_{j=1}^{N}\begin{cases}\dfrac{1}{\rho_j},&amp;\rho_j\leq3,\\[3pt]0,&amp;\rho_j&gt;3.\end{cases}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。完整参数与软件版本见results/summary.json，模型来源见models/manifest.json，原始回答见results/raw_results.json。参考文献：https://arxiv.org/abs/2005.11401；https://huggingface.co/BAAI/bge-small-zh-v1.5；https://huggingface.co/cross-encoder/mmarco-mMiniLMv2-L12-H384-v1；https://huggingface.co/Qwen/Qwen2.5-0.5B-Instruct；https://sbert.net/examples/sentence_transformer/applications/retrieve_rerank/README.html。四人分工为建议安排，提交前用真实姓名并核实实际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315134d9e47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ef0c985034c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5153dc84148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990ef612b4f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873b3f69a44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33ba9c64f47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861C40-EBE1-4181-B0C4-28A3F0619E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826A70-DA23-4F4A-BCE4-FE9FD82528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63D2E1-E986-4394-A944-DCFDFB045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D5DFF9-271D-405C-8177-0D47462B9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956CDD-0CB8-4527-8B17-D7CC81A22B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26C30A-718D-42B8-9B76-7D189F87B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53402A-1764-406C-B6B3-9729E6159F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E80CF6-8F2F-4D2F-8C9E-7E7C3D752D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3C9784-DB40-4C32-9BC1-705D5C3B1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66A434-7B1C-4853-AC16-BBA2AEECDA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25a492f9b94322" /><Relationship Type="http://schemas.openxmlformats.org/officeDocument/2006/relationships/slideLayout" Target="/ppt/slideLayouts/slideLayout1.xml" Id="R52651e0c023f4e4e" /><Relationship Type="http://schemas.openxmlformats.org/officeDocument/2006/relationships/slideLayout" Target="/ppt/slideLayouts/slideLayout2.xml" Id="R6493ad740e664c83" /><Relationship Type="http://schemas.openxmlformats.org/officeDocument/2006/relationships/slideLayout" Target="/ppt/slideLayouts/slideLayout3.xml" Id="Rcb05a235bca446c5" /><Relationship Type="http://schemas.openxmlformats.org/officeDocument/2006/relationships/slideLayout" Target="/ppt/slideLayouts/slideLayout4.xml" Id="R649ad731179c4e45" /><Relationship Type="http://schemas.openxmlformats.org/officeDocument/2006/relationships/slideLayout" Target="/ppt/slideLayouts/slideLayout5.xml" Id="Rc99c72e634a7482b" /><Relationship Type="http://schemas.openxmlformats.org/officeDocument/2006/relationships/slideLayout" Target="/ppt/slideLayouts/slideLayout6.xml" Id="R6aa31329b27f4a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651e0c023f4e4e"/>
    <p:sldLayoutId xmlns:r="http://schemas.openxmlformats.org/officeDocument/2006/relationships" id="2147483650" r:id="R6493ad740e664c83"/>
    <p:sldLayoutId xmlns:r="http://schemas.openxmlformats.org/officeDocument/2006/relationships" id="2147483651" r:id="Rcb05a235bca446c5"/>
    <p:sldLayoutId xmlns:r="http://schemas.openxmlformats.org/officeDocument/2006/relationships" id="2147483652" r:id="R649ad731179c4e45"/>
    <p:sldLayoutId xmlns:r="http://schemas.openxmlformats.org/officeDocument/2006/relationships" id="2147483653" r:id="Rc99c72e634a7482b"/>
    <p:sldLayoutId xmlns:r="http://schemas.openxmlformats.org/officeDocument/2006/relationships" id="2147483654" r:id="R6aa31329b27f4a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e829d0b864020" /><Relationship Type="http://schemas.openxmlformats.org/officeDocument/2006/relationships/image" Target="/ppt/media/image.png" Id="R2e62807d767e4a68" /><Relationship Type="http://schemas.openxmlformats.org/officeDocument/2006/relationships/image" Target="/ppt/media/image.jpeg" Id="R694833f7ab7a4bb6" /><Relationship Type="http://schemas.openxmlformats.org/officeDocument/2006/relationships/notesSlide" Target="/ppt/notesSlides/notesSlide1.xml" Id="Rf687e17d82304f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f4288f07d44bc" /><Relationship Type="http://schemas.openxmlformats.org/officeDocument/2006/relationships/notesSlide" Target="/ppt/notesSlides/notesSlide2.xml" Id="R4e57238d85af45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eed795dbc4bd9" /><Relationship Type="http://schemas.openxmlformats.org/officeDocument/2006/relationships/notesSlide" Target="/ppt/notesSlides/notesSlide3.xml" Id="R2e35085a973b4a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0339672374bfc" /><Relationship Type="http://schemas.openxmlformats.org/officeDocument/2006/relationships/image" Target="/ppt/media/image2.png" Id="Rc5ab958124da4437" /><Relationship Type="http://schemas.openxmlformats.org/officeDocument/2006/relationships/image" Target="/ppt/media/image.svg" Id="R9317a1e2a692432e" /><Relationship Type="http://schemas.openxmlformats.org/officeDocument/2006/relationships/image" Target="/ppt/media/image3.png" Id="R36a20de059254ca3" /><Relationship Type="http://schemas.openxmlformats.org/officeDocument/2006/relationships/image" Target="/ppt/media/image2.svg" Id="R107dd89658394bcd" /><Relationship Type="http://schemas.openxmlformats.org/officeDocument/2006/relationships/notesSlide" Target="/ppt/notesSlides/notesSlide4.xml" Id="R9d8bfa5bc2e647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e8ef31bd04ee1" /><Relationship Type="http://schemas.openxmlformats.org/officeDocument/2006/relationships/image" Target="/ppt/media/image4.png" Id="R0567c8b469eb4992" /><Relationship Type="http://schemas.openxmlformats.org/officeDocument/2006/relationships/image" Target="/ppt/media/image3.svg" Id="Ra97127ba19b043c4" /><Relationship Type="http://schemas.openxmlformats.org/officeDocument/2006/relationships/image" Target="/ppt/media/image5.png" Id="Rf5777f674adb4d74" /><Relationship Type="http://schemas.openxmlformats.org/officeDocument/2006/relationships/image" Target="/ppt/media/image4.svg" Id="R23288e9ae9524009" /><Relationship Type="http://schemas.openxmlformats.org/officeDocument/2006/relationships/notesSlide" Target="/ppt/notesSlides/notesSlide5.xml" Id="R7490efbdf3c14e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a0933078e4120" /><Relationship Type="http://schemas.openxmlformats.org/officeDocument/2006/relationships/notesSlide" Target="/ppt/notesSlides/notesSlide6.xml" Id="Rb41b67afa9c24b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f96e17d924883" /><Relationship Type="http://schemas.openxmlformats.org/officeDocument/2006/relationships/notesSlide" Target="/ppt/notesSlides/notesSlide7.xml" Id="R5c6bf5995e5c40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85573186c4585" /><Relationship Type="http://schemas.openxmlformats.org/officeDocument/2006/relationships/chart" Target="/ppt/slides/charts/chart1.xml" Id="Rc7a61508eb744454" /><Relationship Type="http://schemas.openxmlformats.org/officeDocument/2006/relationships/notesSlide" Target="/ppt/notesSlides/notesSlide8.xml" Id="R4795d599d60e4a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9ba569112b485a" /><Relationship Type="http://schemas.openxmlformats.org/officeDocument/2006/relationships/notesSlide" Target="/ppt/notesSlides/notesSlide9.xml" Id="R260afcc99a6643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38fd99dae4c9f" /><Relationship Type="http://schemas.openxmlformats.org/officeDocument/2006/relationships/notesSlide" Target="/ppt/notesSlides/notesSlide10.xml" Id="R43b08e97f9164a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449249bcf448aa" /><Relationship Type="http://schemas.openxmlformats.org/officeDocument/2006/relationships/image" Target="/ppt/media/image6.png" Id="R9afd6340c99f408b" /><Relationship Type="http://schemas.openxmlformats.org/officeDocument/2006/relationships/image" Target="/ppt/media/image5.svg" Id="R6d42d1a0f60a4282" /><Relationship Type="http://schemas.openxmlformats.org/officeDocument/2006/relationships/image" Target="/ppt/media/image7.png" Id="Rd992cceea2af4dae" /><Relationship Type="http://schemas.openxmlformats.org/officeDocument/2006/relationships/image" Target="/ppt/media/image6.svg" Id="Red74892186214a7b" /><Relationship Type="http://schemas.openxmlformats.org/officeDocument/2006/relationships/notesSlide" Target="/ppt/notesSlides/notesSlide11.xml" Id="R00eace3afd4d4d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e9fbdba34483b" /><Relationship Type="http://schemas.openxmlformats.org/officeDocument/2006/relationships/notesSlide" Target="/ppt/notesSlides/notesSlide12.xml" Id="R39fdbd32f722443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10 道有依据题：同题对照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4262B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基础 RAG</c:v>
          </c:tx>
          <c:spPr>
            <a:solidFill xmlns:a="http://schemas.openxmlformats.org/drawingml/2006/main">
              <a:srgbClr val="6C8090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相关文档命中
Hit@3</c:v>
                </c:pt>
                <c:pt idx="1">
                  <c:v>回答初评满分
3/10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1</c:v>
                </c:pt>
                <c:pt idx="1">
                  <c:v>0.3</c:v>
                </c:pt>
              </c:numCache>
            </c:numRef>
          </c:val>
        </c:ser>
        <c:ser>
          <c:idx val="1"/>
          <c:order val="1"/>
          <c:tx>
            <c:v>加入重排</c:v>
          </c:tx>
          <c:spPr>
            <a:solidFill xmlns:a="http://schemas.openxmlformats.org/drawingml/2006/main">
              <a:srgbClr val="C30D23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相关文档命中
Hit@3</c:v>
                </c:pt>
                <c:pt idx="1">
                  <c:v>回答初评满分
3/10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1</c:v>
                </c:pt>
                <c:pt idx="1">
                  <c:v>0.3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24262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A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3DF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62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8F69D-7B49-48D0-B888-A0C74C1E74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2807d767e4a68"/>
          <a:stretch xmlns:a="http://schemas.openxmlformats.org/drawingml/2006/main"/>
        </p:blipFill>
        <p:spPr>
          <a:xfrm xmlns:a="http://schemas.openxmlformats.org/drawingml/2006/main">
            <a:off x="533400" y="361950"/>
            <a:ext cx="3429000" cy="78181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747C3-6617-4266-AF9D-80B7B38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大数据与人工智能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3184F-0256-4C04-A879-DB5F942C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6286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课程资料问答</a:t>
            </a:r>
          </a:p>
          <a:p xmlns:a="http://schemas.openxmlformats.org/drawingml/2006/main">
            <a:pPr algn="l">
              <a:def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RAG 重排序实验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BE809-33E2-4DFC-9DD7-F8FFB3F9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481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从候选片段排序，到最终回答核验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1D479-D5A4-4F4F-BC0C-14B1468B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244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四人小组课程汇报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5F10A-2A2A-42F8-9B4C-C5A1C82E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7626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成员甲 / 成员乙 / 成员丙 / 成员丁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0E88B-F85A-47DD-A763-6E5AE19235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833f7ab7a4bb6"/>
          <a:stretch xmlns:a="http://schemas.openxmlformats.org/drawingml/2006/main"/>
        </p:blipFill>
        <p:spPr>
          <a:xfrm xmlns:a="http://schemas.openxmlformats.org/drawingml/2006/main">
            <a:off x="7191377" y="2085975"/>
            <a:ext cx="4476745" cy="298449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826C5-E565-4F69-AC5E-4F883FA6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2026 年 10 月 22 日</a:t>
            </a:r>
          </a:p>
        </p:txBody>
      </p:sp>
    </p:spTree>
    <p:extLst>
      <p:ext uri="{BB962C8B-B14F-4D97-AF65-F5344CB8AC3E}">
        <p14:creationId xmlns:p14="http://schemas.microsoft.com/office/powerpoint/2010/main" val="2098382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53CEE-3B79-4658-9FA8-EFF2EB38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01 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55FB1-DAAA-46EB-9E1E-F806F36E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加入重排序，究竟改善了哪一步？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CA66F-690F-4DA3-A8C6-93D1DF1C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应用场景：模型依据课程资料回答问题，并给出可核对的来源。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660C0-46C7-44A2-B8F4-457503AE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我们比较同一批候选，回答两个问题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A9717-B9E7-4383-8A0A-7473A7E8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证据层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8F281-D74F-43DF-A08C-7FB0A242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71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更相关的片段，是否排到了前面？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01ECB-C3E7-4145-B4B3-713DD31A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答案层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4F4A7-B9FE-4DF0-B4F2-82F936EF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24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模型是否正确理解并使用了这些证据？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EBC0E-644B-4E59-B099-240A79DE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汇报路径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30BC3-AC70-4953-BAAE-5A668362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292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系统与原理     对照实验     排序案例     回答核验</a:t>
            </a:r>
          </a:p>
        </p:txBody>
      </p:sp>
    </p:spTree>
    <p:extLst>
      <p:ext uri="{BB962C8B-B14F-4D97-AF65-F5344CB8AC3E}">
        <p14:creationId xmlns:p14="http://schemas.microsoft.com/office/powerpoint/2010/main" val="824753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CFE39-C4B7-46DA-BCB7-A45BE7DD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02 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820C9-096F-41DF-B0F8-AAB0AE85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RAG 系统：建库在前，问答在后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CE5D5-E2DF-4E8A-A41F-9EEEAA86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离线建库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843B9-5443-4A95-9621-E76A43F8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81150"/>
            <a:ext cx="2238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55657-6E7C-4024-B9DF-9D5433C2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33550"/>
            <a:ext cx="2009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课程资料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78B79-8FC7-426F-8AF7-34A61A16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43125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20 篇自编学习资料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50578-95A7-4F3B-98D4-E45551DA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71675"/>
            <a:ext cx="476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10E0-0741-4913-9DC7-FC473C51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81150"/>
            <a:ext cx="2333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ABF66-7F18-485F-8131-39522EF1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733550"/>
            <a:ext cx="2105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切分并编码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090B8-8D30-4EF1-A40A-1FB6C177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43125"/>
            <a:ext cx="2181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180 字符 / 重叠 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6EC07-1226-4852-B9AA-ECDC2AC2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971675"/>
            <a:ext cx="4762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FA704-D134-4989-A47D-DF51C971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81150"/>
            <a:ext cx="2914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6072D-030C-48D5-A95B-103B767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33550"/>
            <a:ext cx="2686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向量索引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4C015-C44D-4E6B-BB3F-71B980DB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431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37 个片段，512 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FE91F-A508-4BD3-B7EC-6B5D263E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在线问答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37584-6FD2-4511-A617-871B1802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1885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8E27B-6320-4F15-BC87-92F3475F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问题编码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A272C-47BE-4C97-8E14-503C13F4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BGE 编码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34E26-4DE7-423E-9D4E-CC746958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38625"/>
            <a:ext cx="257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ED0C4-0A30-4546-B3AF-F3263D2C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48100"/>
            <a:ext cx="1885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811E5-E2E3-4871-B1E8-D04E3EF9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向量召回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5B04D-BCAC-4504-9A1F-E835C5C9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1007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前 10 个候选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8AFCC-8CB1-4F3D-8CDE-CA2F234A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38625"/>
            <a:ext cx="257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0D2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26407-10BB-45C4-A801-F145779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1885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FF0"/>
          </a:solidFill>
          <a:ln xmlns:a="http://schemas.openxmlformats.org/drawingml/2006/main" w="17145">
            <a:solidFill>
              <a:srgbClr val="C30D2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332359-A7A3-4E33-BA71-8A3877E9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00500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候选重排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1AD29-4E65-4D93-98C6-B0E978F7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1007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Cross-Encoder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74DFCE-8C41-406C-ABE3-51BBE5AD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38625"/>
            <a:ext cx="257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0D2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6F685C-E169-45E2-B129-C7DD06D5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48100"/>
            <a:ext cx="1885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FD0EB-97E1-4ACC-B3E6-6410DDA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选择上下文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9F01A3-4581-41A6-91A2-E4B79B07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1007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保留 3 个片段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E8ED64-6A7C-4DB6-8831-A34BF0DF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38625"/>
            <a:ext cx="257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AD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633717-DEAB-42CB-8D18-0BC2BA8D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48100"/>
            <a:ext cx="1885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F7EE39-8A7A-40F3-8CEC-F2F4B43E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生成回答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385265-0A0A-48A0-A69E-DB11A6DD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10075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Qwen2.5-0.5B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B8D95D-F640-49EF-8AF4-5E81C1C9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9587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本次研究对象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FF82CB-9709-478D-BAE5-34E38E9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基础组跳过重排，其他设置保持一致。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798306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B7487-0474-439A-A036-2B5764FB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02 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D9D00-7AF3-482C-B2DC-7E56EDE2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第一步：把资料切成可检索的语义片段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A1D8B-2A89-43F0-A508-8D4A58D5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切分决定证据是否完整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F334A-61D1-4354-8754-928B5064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2190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C54F3-B0A9-4DFD-86ED-973945A1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717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字符 / 片段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2CEEC-D667-45A7-B284-E3731C28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2190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40855-7690-4C51-A7D6-F69C3CE1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5757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字符相邻重叠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AC89A-3C54-4AFC-BFB6-118333B7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52863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片段太短：条件与结论可能分离</a:t>
            </a:r>
          </a:p>
          <a:p xmlns:a="http://schemas.openxmlformats.org/drawingml/2006/main">
            <a: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片段太长：无关信息增加</a:t>
            </a:r>
          </a:p>
          <a:p xmlns:a="http://schemas.openxmlformats.org/drawingml/2006/main">
            <a: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重叠：缓解边界截断，也带来冗余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BE742-278A-4E3D-924E-8D5EB85D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向量表示决定怎样比较相关性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0D900-A725-4D4A-8B08-FCDEDBA67E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b958124da4437">
            <a:extLst>
              <a:ext uri="{96DAC541-7B7A-43D3-8B79-37D633B846F1}">
                <asvg:svgBlip xmlns:asvg="http://schemas.microsoft.com/office/drawing/2016/SVG/main" r:embed="R9317a1e2a69243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3650" y="2409825"/>
            <a:ext cx="3310585" cy="92778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9D040-06DC-415C-8BCB-61EB727D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5238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q：问题     dᵢ：第 i 个片段</a:t>
            </a:r>
          </a:p>
          <a:p xmlns:a="http://schemas.openxmlformats.org/drawingml/2006/main">
            <a: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e：BGE 编码后的向量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5988F-F1A0-4AA5-9AEC-092A424B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本项目先做 L2 归一化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399F4-B5D7-4648-88CD-077092C0C4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20de059254ca3">
            <a:extLst>
              <a:ext uri="{96DAC541-7B7A-43D3-8B79-37D633B846F1}">
                <asvg:svgBlip xmlns:asvg="http://schemas.microsoft.com/office/drawing/2016/SVG/main" r:embed="R107dd89658394b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3650" y="4991100"/>
            <a:ext cx="2435104" cy="4979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9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971D1-D74D-4FEB-8C0F-6A3184F1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02 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30EF4-7A7B-4215-8C5A-F29BDF94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第二步：召回候选，再联合判断相关性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B6DCD-1BDB-4D07-90A0-2C19CC17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rPr>
              <a:t>向量召回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9291D-BE1F-4291-8C52-A71A121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Bi-Encoder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30472-E6A4-4FD9-98FE-FE1D901E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问题 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3A5E0-C5A4-421A-B3A8-98FF38E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95600"/>
            <a:ext cx="3810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809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7834A-AA0B-4CBD-BF00-239B4C25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622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rPr>
              <a:t>BGE 编码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17807-6E4A-4249-B89A-6A9EDBB9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片段 dᵢ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45847-2BF3-4E66-8F31-19BA1DCC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09975"/>
            <a:ext cx="3810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809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9B3AF-27ED-4902-AD32-E077A1E0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766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rPr>
              <a:t>BGE 编码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C94EB-247C-4689-AEBF-BCCE6C3592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7c8b469eb4992">
            <a:extLst>
              <a:ext uri="{96DAC541-7B7A-43D3-8B79-37D633B846F1}">
                <asvg:svgBlip xmlns:asvg="http://schemas.microsoft.com/office/drawing/2016/SVG/main" r:embed="Ra97127ba19b043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4200525"/>
            <a:ext cx="3893363" cy="35761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67BD3-4C3C-4039-8147-5AB57962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514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文档向量提前计算，适合从全库找候选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F31BE-94A0-4014-AD15-09D2B4B6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候选精排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8F90B-331D-4DD1-987F-44C16D5A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Cross-Encoder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51D7D-26DD-4C00-A041-7FE711AB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14625"/>
            <a:ext cx="3181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FF0"/>
          </a:solidFill>
          <a:ln xmlns:a="http://schemas.openxmlformats.org/drawingml/2006/main" w="17145">
            <a:solidFill>
              <a:srgbClr val="C30D2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96EF1-4603-4D18-A670-01C77232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6702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问题 + 候选片段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88D1E-AD0E-4494-B7EE-5646EFDC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作为文本对联合输入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59D28-8AC5-4774-98B8-E7830D47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95625"/>
            <a:ext cx="3333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0D2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C025D-BBE9-4754-BCF7-D73C4BA6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81300"/>
            <a:ext cx="1200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相关性</a:t>
            </a:r>
          </a:p>
          <a:p xmlns:a="http://schemas.openxmlformats.org/drawingml/2006/main">
            <a:pPr algn="ctr"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36EBF-19A5-4DD1-A8F5-A2BB24E276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77f674adb4d74">
            <a:extLst>
              <a:ext uri="{96DAC541-7B7A-43D3-8B79-37D633B846F1}">
                <asvg:svgBlip xmlns:asvg="http://schemas.microsoft.com/office/drawing/2016/SVG/main" r:embed="R23288e9ae95240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9850" y="4010025"/>
            <a:ext cx="2496312" cy="387903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75DB9-180E-4CB9-9310-9FF59C41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05375"/>
            <a:ext cx="514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逐对计算更细的相关性，只处理召回候选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DFDF8-C3F3-41F1-BCCF-F4E1AE81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证据没有进入候选集，重排就无法将它补回。</a:t>
            </a:r>
          </a:p>
        </p:txBody>
      </p:sp>
    </p:spTree>
    <p:extLst>
      <p:ext uri="{BB962C8B-B14F-4D97-AF65-F5344CB8AC3E}">
        <p14:creationId xmlns:p14="http://schemas.microsoft.com/office/powerpoint/2010/main" val="32201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5CB95-B3CD-4995-85BD-E6C7F37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03 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545CC-363A-412F-BB54-7308A958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对照设计：两组只相差一道重排序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76F80-3041-493D-8B44-EB2F58FB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同一数据与同一问题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40CF4-4EB2-4F28-9F83-A5C660E6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20 篇自编资料 / 37 个片段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7D886-C1C5-4F68-9886-F4FECBF1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12 道固定题：10 道有资料依据，2 道资料外问题单独检查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53CA4-546E-497D-98C5-D93F8EFB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共享每题相同的 10 个候选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72813-CCF6-46BE-96C7-2F2A66B8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481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A9DB5-9C2D-49D8-A494-260391A5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4F585-0D64-4381-98D8-772800B2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rPr>
              <a:t>基础 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0A866-9A00-4D40-9F26-B8F069F1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按向量原序选前 3 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8C7B2-0E6F-43E8-B2F3-19B25DB0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加入 Rerank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CA50A-8B4E-4900-9C0B-72C845BE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按精排分数选前 3 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A6AA0-C51B-4250-AEA0-A387083A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相同生成器、相同提示词、相同上下文数量、贪心解码</a:t>
            </a:r>
          </a:p>
        </p:txBody>
      </p:sp>
    </p:spTree>
    <p:extLst>
      <p:ext uri="{BB962C8B-B14F-4D97-AF65-F5344CB8AC3E}">
        <p14:creationId xmlns:p14="http://schemas.microsoft.com/office/powerpoint/2010/main" val="2424277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6501F4-0EF3-4B67-92E9-71ACBEE9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03 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28E18-1092-4D3C-AB77-0C9A08DB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一个重排案例：关键片段从第 4 名升至第 1 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0F5A1-CABA-45DA-9DE4-DDED3209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问题：搜到的材料来自相关文件，为什么仍不等于能答完整？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06252-2491-4CB8-8D7B-D6356A81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rPr>
              <a:t>向量召回顺序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3FC2A-ABAF-4EE3-8124-0A44196F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6003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Cross-Encoder 重排后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15111-407D-4EAC-9D16-0E4D7E9E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AB507-A0B9-47FC-8D7E-31E791B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90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生成提示词与资料不足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C863F-27CF-45F7-85F4-28F98E5C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90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E7AD5-98C4-4004-89A0-0143E8BC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90875"/>
            <a:ext cx="3800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检索评价指标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7E475-7B86-46CE-994E-97A524F3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FDA2F-CF08-4C57-AF21-2F2A5482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相似问题中的关键限制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19573-BEE7-40E0-A3F4-ED20852A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14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243A4-C3F4-4229-85D6-C55E4064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714750"/>
            <a:ext cx="3800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生成提示词与资料不足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9046B-664A-40A3-8991-E8F8DE31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80AED-F4CD-420F-AAE4-A348934E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386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生成提示词与资料不足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009F7-AE6B-4C36-A70B-0F36BFC5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238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3DCC2-C81D-448E-960D-7F777EF1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238625"/>
            <a:ext cx="3800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实验手册的资料范围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92D66-DD45-4880-8631-8D70D56B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2C664-1E81-46CA-A505-B93F56D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检索评价指标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A91B9-5112-4944-B229-796E1076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7625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485DA-D8B0-4EDB-8A2D-C4A49828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62500"/>
            <a:ext cx="3800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切分大小的取舍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2C933-E67A-4C3E-A322-3547C442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90950"/>
            <a:ext cx="166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4 →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0E8F29-AEC4-4339-8DB8-E7492F83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0091E"/>
                </a:solidFill>
                <a:latin typeface="Microsoft YaHei"/>
                <a:ea typeface="Microsoft YaHei"/>
                <a:cs typeface="Microsoft YaHei"/>
              </a:rPr>
              <a:t>关键原文：“只找到一个相关片段，不代表覆盖了全部必要事实。”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A86C7-FB72-42E9-A3C5-21D0F56A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864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补充案例 S07：仅展示排序机制，不计入固定题集统计。</a:t>
            </a:r>
          </a:p>
        </p:txBody>
      </p:sp>
    </p:spTree>
    <p:extLst>
      <p:ext uri="{BB962C8B-B14F-4D97-AF65-F5344CB8AC3E}">
        <p14:creationId xmlns:p14="http://schemas.microsoft.com/office/powerpoint/2010/main" val="1407022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9EF0F-DA99-40F2-8C02-A6DAB86A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03 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C556D-970A-4805-BC57-2AFF174C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找到相关文档，仍可能生成错误回答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9F102B4-2CD3-40DE-8DF5-C8DDBA774675}"/>
              </a:ext>
            </a:extLst>
          </p:cNvPr>
          <p:cNvGraphicFramePr/>
          <p:nvPr/>
        </p:nvGraphicFramePr>
        <p:xfrm>
          <a:off xmlns:a="http://schemas.openxmlformats.org/drawingml/2006/main" x="457200" y="1609725"/>
          <a:ext xmlns:a="http://schemas.openxmlformats.org/drawingml/2006/main" cx="7334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a61508eb74445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8D5D5-15F4-481D-95F8-309E76D6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85975"/>
            <a:ext cx="320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检索已达本题集上限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F41D1-0110-489D-BEE6-B8069137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57525"/>
            <a:ext cx="320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两组文档级指标相同，</a:t>
            </a:r>
          </a:p>
          <a:p xmlns:a="http://schemas.openxmlformats.org/drawingml/2006/main">
            <a: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结论限于当前题集。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FE25A-EAAB-4B31-8448-C99A6E09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10075"/>
            <a:ext cx="320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0.454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615D0-9905-4AA9-BF36-AC47B4E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124450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每题额外重排平均耗时</a:t>
            </a:r>
          </a:p>
        </p:txBody>
      </p:sp>
    </p:spTree>
    <p:extLst>
      <p:ext uri="{BB962C8B-B14F-4D97-AF65-F5344CB8AC3E}">
        <p14:creationId xmlns:p14="http://schemas.microsoft.com/office/powerpoint/2010/main" val="5550574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29E05-7108-43D8-8943-8E54087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03 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E806C-BD19-48A5-8C63-10DE7FB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现场核验：同维度，为什么还要重新建库？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2E6CD-93CC-4427-8CFE-2EB5EFB0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问题 Q10：修改 Embedding 模型后，即使向量维度没变，为什么仍要重建？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72C30-3ECE-44CC-BB87-3D40096B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C8090"/>
                </a:solidFill>
                <a:latin typeface="Microsoft YaHei"/>
                <a:ea typeface="Microsoft YaHei"/>
                <a:cs typeface="Microsoft YaHei"/>
              </a:rPr>
              <a:t>基础 RAG 回答节选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4193F-919D-42C4-A24F-9A3088A4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219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“需要重新建立库以确保</a:t>
            </a:r>
          </a:p>
          <a:p xmlns:a="http://schemas.openxmlformats.org/drawingml/2006/main">
            <a: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所有相关组件都已正确配置和更新。”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E1CE2-F4E8-4F4D-B3D8-089EE02D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没有说清“为什么不兼容”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C635C-DC74-4CB4-80E6-3D2E72C4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重排后回答节选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4D73E-3267-4AA0-A55F-91ACB2B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2197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“由于</a:t>
            </a:r>
            <a:r>
              <a: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语义空间可能已经变化</a:t>
            </a:r>
            <a:r>
              <a: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，</a:t>
            </a:r>
            <a:br>
              <a: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</a:br>
            <a:r>
              <a: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因此需要重新建立索引</a:t>
            </a:r>
            <a:br>
              <a: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</a:br>
            <a:r>
              <a:rPr sz="225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以确保其兼容性。”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C8F6E-F26C-436C-BD71-44A84BC8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F58"/>
                </a:solidFill>
                <a:latin typeface="Microsoft YaHei"/>
                <a:ea typeface="Microsoft YaHei"/>
                <a:cs typeface="Microsoft YaHei"/>
              </a:rPr>
              <a:t>与原文 D15-C01 的关键理由一致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5AE99-5E17-44FC-8D06-E173F88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核验标准：答案中的理由，必须能在引用原文中找到。</a:t>
            </a:r>
          </a:p>
        </p:txBody>
      </p:sp>
    </p:spTree>
    <p:extLst>
      <p:ext uri="{BB962C8B-B14F-4D97-AF65-F5344CB8AC3E}">
        <p14:creationId xmlns:p14="http://schemas.microsoft.com/office/powerpoint/2010/main" val="1435854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9FB33-E43B-4679-ADDD-99ABA272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04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565E9-A2C5-4533-A7BE-3FA8157F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重排序改变了证据优先级，可靠回答仍需核验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7B6E9-748E-4EF0-9BE1-E72545F4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F65D4-EE8E-475A-AD83-119A1FB8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876425"/>
            <a:ext cx="9925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排序层：确实能够改变候选顺序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E7148-AA3F-43A4-8A7D-C7645599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466975"/>
            <a:ext cx="992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补充案例中，第 4 名的关键片段进入第 1 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08D09-AD36-47D4-8BFE-CFFE8FD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051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AD7DC-62F6-4F52-84E4-9B6AAC88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305175"/>
            <a:ext cx="9925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整体层：当前题集没有观察到指标提升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F1A99-83A6-420E-937A-0D859AC1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895725"/>
            <a:ext cx="992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检索指标均已达上限，回答初评满分题数仍为 3/10。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FF2CF-006F-4AD2-967B-EF83BB46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3392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89FA5-D643-479B-871B-6E8E5D65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733925"/>
            <a:ext cx="9925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下一步：换独立课件题集，重点核验生成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DE438-6026-4EBA-9207-30F68CDA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324475"/>
            <a:ext cx="992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当前是自编小样本与 0.5B 模型，结论限定于本次实验。</a:t>
            </a:r>
          </a:p>
        </p:txBody>
      </p:sp>
    </p:spTree>
    <p:extLst>
      <p:ext uri="{BB962C8B-B14F-4D97-AF65-F5344CB8AC3E}">
        <p14:creationId xmlns:p14="http://schemas.microsoft.com/office/powerpoint/2010/main" val="1665433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457A3-D172-4748-A04C-092BF5D2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备答 01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1D225-8F77-4C34-B764-8619D2FE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检索指标怎样计算？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213D7-ADD0-419D-BD4D-947E5225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Hit@3：前三名是否至少命中一个相关片段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CEC62-3448-4A86-8B2D-BEB9969E43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d6340c99f408b">
            <a:extLst>
              <a:ext uri="{96DAC541-7B7A-43D3-8B79-37D633B846F1}">
                <asvg:svgBlip xmlns:asvg="http://schemas.microsoft.com/office/drawing/2016/SVG/main" r:embed="R6d42d1a0f60a42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2352675"/>
            <a:ext cx="4207193" cy="115591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4F03B-8ACF-4EFA-B801-EE0CF2E1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MRR@3：首个相关结果越靠前，得分越高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61B7A-2974-4C3A-AAAF-4A397FC74F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2cceea2af4dae">
            <a:extLst>
              <a:ext uri="{96DAC541-7B7A-43D3-8B79-37D633B846F1}">
                <asvg:svgBlip xmlns:asvg="http://schemas.microsoft.com/office/drawing/2016/SVG/main" r:embed="Red74892186214a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4162425"/>
            <a:ext cx="5093970" cy="133316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699F7-1C1B-40F4-B38C-97B85A6B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8642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N = 10；ρⱼ 是第 j 题首个相关结果的排名，未召回时为 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5879C-A095-4FF3-BF2D-090C7790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4676E"/>
                </a:solidFill>
                <a:latin typeface="Microsoft YaHei"/>
                <a:ea typeface="Microsoft YaHei"/>
                <a:cs typeface="Microsoft YaHei"/>
              </a:rPr>
              <a:t>相关性按文档编号判断；资料外题单独检查。</a:t>
            </a:r>
          </a:p>
        </p:txBody>
      </p:sp>
    </p:spTree>
    <p:extLst>
      <p:ext uri="{BB962C8B-B14F-4D97-AF65-F5344CB8AC3E}">
        <p14:creationId xmlns:p14="http://schemas.microsoft.com/office/powerpoint/2010/main" val="669877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05247-0905-4AFC-83CD-26AB2C25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备答 02 复现与分工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1BF3A-33A7-4F1B-9113-ABC20F8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模型、材料与四人职责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7FC3F-B1B0-47E9-9F46-362349138CEF}"/>
              </a:ext>
            </a:extLst>
          </p:cNvPr>
          <p:cNvGraphicFramePr/>
          <p:nvPr/>
        </p:nvGraphicFramePr>
        <p:xfrm>
          <a:off xmlns:a="http://schemas.openxmlformats.org/drawingml/2006/main" x="552450" y="1638300"/>
          <a:ext xmlns:a="http://schemas.openxmlformats.org/drawingml/2006/main" cx="11087100" cy="2495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3381375"/>
                <a:gridCol w="6467475"/>
              </a:tblGrid>
              <a:tr h="49911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152400" marR="114300" marT="95250" marB="7620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负责模块</a:t>
                      </a:r>
                    </a:p>
                  </a:txBody>
                  <a:tcPr marL="152400" marR="114300" marT="95250" marB="7620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主要交付</a:t>
                      </a:r>
                    </a:p>
                  </a:txBody>
                  <a:tcPr marL="152400" marR="114300" marT="95250" marB="76200" anchor="ctr">
                    <a:solidFill>
                      <a:srgbClr val="C30D23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甲</a:t>
                      </a:r>
                    </a:p>
                  </a:txBody>
                  <a:tcPr marL="1524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研究问题与系统统筹</a:t>
                      </a:r>
                    </a:p>
                  </a:txBody>
                  <a:tcPr marL="1524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资料范围、流程图、材料整合</a:t>
                      </a:r>
                    </a:p>
                  </a:txBody>
                  <a:tcPr marL="152400" marR="114300" marT="95250" marB="76200" anchor="ctr">
                    <a:solidFill>
                      <a:srgbClr val="FFFFFF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乙</a:t>
                      </a:r>
                    </a:p>
                  </a:txBody>
                  <a:tcPr marL="152400" marR="114300" marT="95250" marB="76200" anchor="ctr">
                    <a:solidFill>
                      <a:srgbClr val="F6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切分与向量检索</a:t>
                      </a:r>
                    </a:p>
                  </a:txBody>
                  <a:tcPr marL="152400" marR="114300" marT="95250" marB="76200" anchor="ctr">
                    <a:solidFill>
                      <a:srgbClr val="F6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 编码、向量索引、来源定位</a:t>
                      </a:r>
                    </a:p>
                  </a:txBody>
                  <a:tcPr marL="152400" marR="114300" marT="95250" marB="76200" anchor="ctr">
                    <a:solidFill>
                      <a:srgbClr val="F6F2EE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丙</a:t>
                      </a:r>
                    </a:p>
                  </a:txBody>
                  <a:tcPr marL="1524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重排序与现场演示</a:t>
                      </a:r>
                    </a:p>
                  </a:txBody>
                  <a:tcPr marL="1524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Cross-Encoder、Notebook、查询演示</a:t>
                      </a:r>
                    </a:p>
                  </a:txBody>
                  <a:tcPr marL="152400" marR="114300" marT="95250" marB="76200" anchor="ctr">
                    <a:solidFill>
                      <a:srgbClr val="FFFFFF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丁</a:t>
                      </a:r>
                    </a:p>
                  </a:txBody>
                  <a:tcPr marL="152400" marR="114300" marT="95250" marB="76200" anchor="ctr">
                    <a:solidFill>
                      <a:srgbClr val="F6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实验设计与评价</a:t>
                      </a:r>
                    </a:p>
                  </a:txBody>
                  <a:tcPr marL="152400" marR="114300" marT="95250" marB="76200" anchor="ctr">
                    <a:solidFill>
                      <a:srgbClr val="F6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6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固定题集、逐题核验、结果分析</a:t>
                      </a:r>
                    </a:p>
                  </a:txBody>
                  <a:tcPr marL="152400" marR="114300" marT="95250" marB="76200" anchor="ctr">
                    <a:solidFill>
                      <a:srgbClr val="F6F2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023E9-7B7E-4FC5-8FB3-0ABCC5C2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200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本地模型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A80D0-CCD7-4029-AE25-6112171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438650"/>
            <a:ext cx="8982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BGE-small-zh-v1.5 / mmarco-mMiniLMv2 / Qwen2.5-0.5B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E9170-1446-4B5A-A4A6-997F9A1C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67325"/>
            <a:ext cx="200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完整材料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71319-48C8-4E94-AE22-E166F071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267325"/>
            <a:ext cx="8982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262B"/>
                </a:solidFill>
                <a:latin typeface="Microsoft YaHei"/>
                <a:ea typeface="Microsoft YaHei"/>
                <a:cs typeface="Microsoft YaHei"/>
              </a:rPr>
              <a:t>Notebook、逐题原始结果、实验报告、LaTeX 公式源码</a:t>
            </a:r>
          </a:p>
        </p:txBody>
      </p:sp>
    </p:spTree>
    <p:extLst>
      <p:ext uri="{BB962C8B-B14F-4D97-AF65-F5344CB8AC3E}">
        <p14:creationId xmlns:p14="http://schemas.microsoft.com/office/powerpoint/2010/main" val="1028069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2026-10-18T06:54:17.9060000Z</dcterms:created>
  <dcterms:modified xsi:type="dcterms:W3CDTF">2026-10-18T06:54:17.9060000Z</dcterms:modified>
</coreProperties>
</file>